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promise: a support assistant that is useful on day one and safe by design. Ask the audience how many support tickets per week are 'where is my order' or 'what is your return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conversational. Invite the audience to name their own top three repetitive contact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is trust. A wrong answer is worse than no answer; SupportPilot is built to refuse to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capabilities as a customer journey: question, order, ticket,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speed to value and that onboarding is configuration, not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the objection IT and legal will raise first. The key message: the AI is never trusted with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see the reason, a summary, and any tickets already filed. A Slack-compatible webhook can alert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Tailor this slide to the room. The 30,000/day figure is the documented design point in docs/SCALING.md, not a measured customer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the repo's evaluation reports NOT READY until model-in-the-loop evals, staging load tests, and manual checks are completed. Position the pilot accordingly.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tx2"/>
        </a:solidFill>
      </p:bgPr>
    </p:bg>
    <p:spTree>
      <p:nvGrpSpPr>
        <p:cNvPr id="1" name=""/>
        <p:cNvGrpSpPr/>
        <p:nvPr/>
      </p:nvGrpSpPr>
      <p:grpSpPr>
        <a:xfrm>
          <a:off x="0" y="0"/>
          <a:ext cx="0" cy="0"/>
          <a:chOff x="0" y="0"/>
          <a:chExt cx="0" cy="0"/>
        </a:xfrm>
      </p:grpSpPr>
      <p:sp>
        <p:nvSpPr>
          <p:cNvPr id="2" name="Orb"/>
          <p:cNvSpPr/>
          <p:nvPr/>
        </p:nvSpPr>
        <p:spPr>
          <a:xfrm>
            <a:off x="6035040" y="-1097280"/>
            <a:ext cx="5120640" cy="5120640"/>
          </a:xfrm>
          <a:prstGeom prst="ellipse">
            <a:avLst/>
          </a:prstGeom>
          <a:solidFill>
            <a:schemeClr val="tx1"/>
          </a:solidFill>
          <a:ln/>
        </p:spPr>
      </p:sp>
      <p:sp>
        <p:nvSpPr>
          <p:cNvPr id="3" name="Orb2"/>
          <p:cNvSpPr/>
          <p:nvPr/>
        </p:nvSpPr>
        <p:spPr>
          <a:xfrm>
            <a:off x="6949440" y="2651760"/>
            <a:ext cx="3108960" cy="3108960"/>
          </a:xfrm>
          <a:prstGeom prst="ellipse">
            <a:avLst/>
          </a:prstGeom>
          <a:solidFill>
            <a:schemeClr val="accent2">
              <a:alpha val="30000"/>
            </a:schemeClr>
          </a:solidFill>
          <a:ln/>
        </p:spPr>
      </p:sp>
      <p:sp>
        <p:nvSpPr>
          <p:cNvPr id="4" name="Text 2"/>
          <p:cNvSpPr txBox="1"/>
          <p:nvPr/>
        </p:nvSpPr>
        <p:spPr>
          <a:xfrm>
            <a:off x="548640" y="1097280"/>
            <a:ext cx="5486400" cy="320040"/>
          </a:xfrm>
          <a:prstGeom prst="rect">
            <a:avLst/>
          </a:prstGeom>
          <a:noFill/>
          <a:ln/>
        </p:spPr>
        <p:txBody>
          <a:bodyPr wrap="square" lIns="0" tIns="0" rIns="0" bIns="0" rtlCol="0" anchor="ctr"/>
          <a:lstStyle/>
          <a:p>
            <a:pPr indent="0" marL="0">
              <a:buNone/>
            </a:pPr>
            <a:r>
              <a:rPr lang="en-US" sz="1400" b="1" spc="400" kern="0" dirty="0">
                <a:solidFill>
                  <a:schemeClr val="accent1"/>
                </a:solidFill>
              </a:rPr>
              <a:t>SUPPORTPILOT AI</a:t>
            </a:r>
            <a:endParaRPr lang="en-US" sz="1400" dirty="0"/>
          </a:p>
        </p:txBody>
      </p:sp>
      <p:sp>
        <p:nvSpPr>
          <p:cNvPr id="5" name="Text 3"/>
          <p:cNvSpPr txBox="1"/>
          <p:nvPr/>
        </p:nvSpPr>
        <p:spPr>
          <a:xfrm>
            <a:off x="548640" y="1554480"/>
            <a:ext cx="5852160" cy="173736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Customer support that answers, checks orders, and hands off — safely</a:t>
            </a:r>
            <a:endParaRPr lang="en-US" sz="3600" dirty="0"/>
          </a:p>
        </p:txBody>
      </p:sp>
      <p:sp>
        <p:nvSpPr>
          <p:cNvPr id="6" name="Text 4"/>
          <p:cNvSpPr txBox="1"/>
          <p:nvPr/>
        </p:nvSpPr>
        <p:spPr>
          <a:xfrm>
            <a:off x="548640" y="3566160"/>
            <a:ext cx="5303520" cy="822960"/>
          </a:xfrm>
          <a:prstGeom prst="rect">
            <a:avLst/>
          </a:prstGeom>
          <a:noFill/>
          <a:ln/>
        </p:spPr>
        <p:txBody>
          <a:bodyPr wrap="square" lIns="0" tIns="0" rIns="0" bIns="0" rtlCol="0" anchor="t"/>
          <a:lstStyle/>
          <a:p>
            <a:pPr indent="0" marL="0">
              <a:buNone/>
            </a:pPr>
            <a:r>
              <a:rPr lang="en-US" sz="1600" dirty="0">
                <a:solidFill>
                  <a:schemeClr val="accent6"/>
                </a:solidFill>
              </a:rPr>
              <a:t>One script tag on your website. Your documents. Your customers' own orders. Your team, one click away.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1"/>
        </a:solidFill>
      </p:bgPr>
    </p:bg>
    <p:spTree>
      <p:nvGrpSpPr>
        <p:cNvPr id="1" name=""/>
        <p:cNvGrpSpPr/>
        <p:nvPr/>
      </p:nvGrpSpPr>
      <p:grpSpPr>
        <a:xfrm>
          <a:off x="0" y="0"/>
          <a:ext cx="0" cy="0"/>
          <a:chOff x="0" y="0"/>
          <a:chExt cx="0" cy="0"/>
        </a:xfrm>
      </p:grpSpPr>
      <p:sp>
        <p:nvSpPr>
          <p:cNvPr id="2" name="Kicker"/>
          <p:cNvSpPr txBox="1"/>
          <p:nvPr/>
        </p:nvSpPr>
        <p:spPr>
          <a:xfrm>
            <a:off x="548640" y="365760"/>
            <a:ext cx="804672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THE PROBLEM</a:t>
            </a:r>
            <a:endParaRPr lang="en-US" sz="1200" dirty="0"/>
          </a:p>
        </p:txBody>
      </p:sp>
      <p:sp>
        <p:nvSpPr>
          <p:cNvPr id="3" name="Title"/>
          <p:cNvSpPr txBox="1"/>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Support teams are buried in questions they have already answered</a:t>
            </a:r>
            <a:endParaRPr lang="en-US" sz="3000" dirty="0"/>
          </a:p>
        </p:txBody>
      </p:sp>
      <p:sp>
        <p:nvSpPr>
          <p:cNvPr id="4" name="Card"/>
          <p:cNvSpPr/>
          <p:nvPr/>
        </p:nvSpPr>
        <p:spPr>
          <a:xfrm>
            <a:off x="548640" y="1691640"/>
            <a:ext cx="3886200" cy="1417320"/>
          </a:xfrm>
          <a:prstGeom prst="rect">
            <a:avLst/>
          </a:prstGeom>
          <a:solidFill>
            <a:schemeClr val="bg2"/>
          </a:solidFill>
          <a:ln/>
        </p:spPr>
      </p:sp>
      <p:sp>
        <p:nvSpPr>
          <p:cNvPr id="5" name="Badge"/>
          <p:cNvSpPr/>
          <p:nvPr/>
        </p:nvSpPr>
        <p:spPr>
          <a:xfrm>
            <a:off x="777240" y="1920240"/>
            <a:ext cx="457200" cy="457200"/>
          </a:xfrm>
          <a:prstGeom prst="ellipse">
            <a:avLst/>
          </a:prstGeom>
          <a:solidFill>
            <a:schemeClr val="tx1"/>
          </a:solidFill>
          <a:ln/>
        </p:spPr>
      </p:sp>
      <p:sp>
        <p:nvSpPr>
          <p:cNvPr id="6" name="Text 4"/>
          <p:cNvSpPr txBox="1"/>
          <p:nvPr/>
        </p:nvSpPr>
        <p:spPr>
          <a:xfrm>
            <a:off x="777240" y="1920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417320" y="1874520"/>
            <a:ext cx="2834640" cy="32004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Repetitive volume</a:t>
            </a:r>
            <a:endParaRPr lang="en-US" sz="1800" dirty="0"/>
          </a:p>
        </p:txBody>
      </p:sp>
      <p:sp>
        <p:nvSpPr>
          <p:cNvPr id="8" name="Text 6"/>
          <p:cNvSpPr txBox="1"/>
          <p:nvPr/>
        </p:nvSpPr>
        <p:spPr>
          <a:xfrm>
            <a:off x="1417320" y="2240280"/>
            <a:ext cx="2834640" cy="777240"/>
          </a:xfrm>
          <a:prstGeom prst="rect">
            <a:avLst/>
          </a:prstGeom>
          <a:noFill/>
          <a:ln/>
        </p:spPr>
        <p:txBody>
          <a:bodyPr wrap="square" lIns="0" tIns="0" rIns="0" bIns="0" rtlCol="0" anchor="t"/>
          <a:lstStyle/>
          <a:p>
            <a:pPr indent="0" marL="0">
              <a:buNone/>
            </a:pPr>
            <a:r>
              <a:rPr lang="en-US" sz="1400" dirty="0">
                <a:solidFill>
                  <a:schemeClr val="accent5"/>
                </a:solidFill>
              </a:rPr>
              <a:t>Return policies, opening hours, shipping times — the same questions, every day, answered by people.</a:t>
            </a:r>
            <a:endParaRPr lang="en-US" sz="1400" dirty="0"/>
          </a:p>
        </p:txBody>
      </p:sp>
      <p:sp>
        <p:nvSpPr>
          <p:cNvPr id="9" name="Card"/>
          <p:cNvSpPr/>
          <p:nvPr/>
        </p:nvSpPr>
        <p:spPr>
          <a:xfrm>
            <a:off x="4617720" y="1691640"/>
            <a:ext cx="3886200" cy="1417320"/>
          </a:xfrm>
          <a:prstGeom prst="rect">
            <a:avLst/>
          </a:prstGeom>
          <a:solidFill>
            <a:schemeClr val="bg2"/>
          </a:solidFill>
          <a:ln/>
        </p:spPr>
      </p:sp>
      <p:sp>
        <p:nvSpPr>
          <p:cNvPr id="10" name="Badge"/>
          <p:cNvSpPr/>
          <p:nvPr/>
        </p:nvSpPr>
        <p:spPr>
          <a:xfrm>
            <a:off x="4846320" y="1920240"/>
            <a:ext cx="457200" cy="457200"/>
          </a:xfrm>
          <a:prstGeom prst="ellipse">
            <a:avLst/>
          </a:prstGeom>
          <a:solidFill>
            <a:schemeClr val="tx1"/>
          </a:solidFill>
          <a:ln/>
        </p:spPr>
      </p:sp>
      <p:sp>
        <p:nvSpPr>
          <p:cNvPr id="11" name="Text 9"/>
          <p:cNvSpPr txBox="1"/>
          <p:nvPr/>
        </p:nvSpPr>
        <p:spPr>
          <a:xfrm>
            <a:off x="4846320" y="1920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5486400" y="1874520"/>
            <a:ext cx="2834640" cy="32004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“Where is my order?”</a:t>
            </a:r>
            <a:endParaRPr lang="en-US" sz="1800" dirty="0"/>
          </a:p>
        </p:txBody>
      </p:sp>
      <p:sp>
        <p:nvSpPr>
          <p:cNvPr id="13" name="Text 11"/>
          <p:cNvSpPr txBox="1"/>
          <p:nvPr/>
        </p:nvSpPr>
        <p:spPr>
          <a:xfrm>
            <a:off x="5486400" y="2240280"/>
            <a:ext cx="2834640" cy="777240"/>
          </a:xfrm>
          <a:prstGeom prst="rect">
            <a:avLst/>
          </a:prstGeom>
          <a:noFill/>
          <a:ln/>
        </p:spPr>
        <p:txBody>
          <a:bodyPr wrap="square" lIns="0" tIns="0" rIns="0" bIns="0" rtlCol="0" anchor="t"/>
          <a:lstStyle/>
          <a:p>
            <a:pPr indent="0" marL="0">
              <a:buNone/>
            </a:pPr>
            <a:r>
              <a:rPr lang="en-US" sz="1400" dirty="0">
                <a:solidFill>
                  <a:schemeClr val="accent5"/>
                </a:solidFill>
              </a:rPr>
              <a:t>Order-status requests dominate the queue and need a login, so generic FAQ bots cannot help.</a:t>
            </a:r>
            <a:endParaRPr lang="en-US" sz="1400" dirty="0"/>
          </a:p>
        </p:txBody>
      </p:sp>
      <p:sp>
        <p:nvSpPr>
          <p:cNvPr id="14" name="Card"/>
          <p:cNvSpPr/>
          <p:nvPr/>
        </p:nvSpPr>
        <p:spPr>
          <a:xfrm>
            <a:off x="548640" y="3291840"/>
            <a:ext cx="3886200" cy="1417320"/>
          </a:xfrm>
          <a:prstGeom prst="rect">
            <a:avLst/>
          </a:prstGeom>
          <a:solidFill>
            <a:schemeClr val="bg2"/>
          </a:solidFill>
          <a:ln/>
        </p:spPr>
      </p:sp>
      <p:sp>
        <p:nvSpPr>
          <p:cNvPr id="15" name="Badge"/>
          <p:cNvSpPr/>
          <p:nvPr/>
        </p:nvSpPr>
        <p:spPr>
          <a:xfrm>
            <a:off x="777240" y="3520440"/>
            <a:ext cx="457200" cy="457200"/>
          </a:xfrm>
          <a:prstGeom prst="ellipse">
            <a:avLst/>
          </a:prstGeom>
          <a:solidFill>
            <a:schemeClr val="tx1"/>
          </a:solidFill>
          <a:ln/>
        </p:spPr>
      </p:sp>
      <p:sp>
        <p:nvSpPr>
          <p:cNvPr id="16" name="Text 14"/>
          <p:cNvSpPr txBox="1"/>
          <p:nvPr/>
        </p:nvSpPr>
        <p:spPr>
          <a:xfrm>
            <a:off x="777240" y="3520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5"/>
          <p:cNvSpPr txBox="1"/>
          <p:nvPr/>
        </p:nvSpPr>
        <p:spPr>
          <a:xfrm>
            <a:off x="1417320" y="3474720"/>
            <a:ext cx="2834640" cy="32004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Slow, uneven service</a:t>
            </a:r>
            <a:endParaRPr lang="en-US" sz="1800" dirty="0"/>
          </a:p>
        </p:txBody>
      </p:sp>
      <p:sp>
        <p:nvSpPr>
          <p:cNvPr id="18" name="Text 16"/>
          <p:cNvSpPr txBox="1"/>
          <p:nvPr/>
        </p:nvSpPr>
        <p:spPr>
          <a:xfrm>
            <a:off x="1417320" y="3840480"/>
            <a:ext cx="2834640" cy="777240"/>
          </a:xfrm>
          <a:prstGeom prst="rect">
            <a:avLst/>
          </a:prstGeom>
          <a:noFill/>
          <a:ln/>
        </p:spPr>
        <p:txBody>
          <a:bodyPr wrap="square" lIns="0" tIns="0" rIns="0" bIns="0" rtlCol="0" anchor="t"/>
          <a:lstStyle/>
          <a:p>
            <a:pPr indent="0" marL="0">
              <a:buNone/>
            </a:pPr>
            <a:r>
              <a:rPr lang="en-US" sz="1400" dirty="0">
                <a:solidFill>
                  <a:schemeClr val="accent5"/>
                </a:solidFill>
              </a:rPr>
              <a:t>Customers wait for a human, after hours get nothing, and quality varies agent to agent.</a:t>
            </a:r>
            <a:endParaRPr lang="en-US" sz="1400" dirty="0"/>
          </a:p>
        </p:txBody>
      </p:sp>
      <p:sp>
        <p:nvSpPr>
          <p:cNvPr id="19" name="Card"/>
          <p:cNvSpPr/>
          <p:nvPr/>
        </p:nvSpPr>
        <p:spPr>
          <a:xfrm>
            <a:off x="4617720" y="3291840"/>
            <a:ext cx="3886200" cy="1417320"/>
          </a:xfrm>
          <a:prstGeom prst="rect">
            <a:avLst/>
          </a:prstGeom>
          <a:solidFill>
            <a:schemeClr val="bg2"/>
          </a:solidFill>
          <a:ln/>
        </p:spPr>
      </p:sp>
      <p:sp>
        <p:nvSpPr>
          <p:cNvPr id="20" name="Badge"/>
          <p:cNvSpPr/>
          <p:nvPr/>
        </p:nvSpPr>
        <p:spPr>
          <a:xfrm>
            <a:off x="4846320" y="3520440"/>
            <a:ext cx="457200" cy="457200"/>
          </a:xfrm>
          <a:prstGeom prst="ellipse">
            <a:avLst/>
          </a:prstGeom>
          <a:solidFill>
            <a:schemeClr val="tx1"/>
          </a:solidFill>
          <a:ln/>
        </p:spPr>
      </p:sp>
      <p:sp>
        <p:nvSpPr>
          <p:cNvPr id="21" name="Text 19"/>
          <p:cNvSpPr txBox="1"/>
          <p:nvPr/>
        </p:nvSpPr>
        <p:spPr>
          <a:xfrm>
            <a:off x="4846320" y="3520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20"/>
          <p:cNvSpPr txBox="1"/>
          <p:nvPr/>
        </p:nvSpPr>
        <p:spPr>
          <a:xfrm>
            <a:off x="5486400" y="3474720"/>
            <a:ext cx="2834640" cy="32004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Lost context</a:t>
            </a:r>
            <a:endParaRPr lang="en-US" sz="1800" dirty="0"/>
          </a:p>
        </p:txBody>
      </p:sp>
      <p:sp>
        <p:nvSpPr>
          <p:cNvPr id="23" name="Text 21"/>
          <p:cNvSpPr txBox="1"/>
          <p:nvPr/>
        </p:nvSpPr>
        <p:spPr>
          <a:xfrm>
            <a:off x="5486400" y="3840480"/>
            <a:ext cx="2834640" cy="777240"/>
          </a:xfrm>
          <a:prstGeom prst="rect">
            <a:avLst/>
          </a:prstGeom>
          <a:noFill/>
          <a:ln/>
        </p:spPr>
        <p:txBody>
          <a:bodyPr wrap="square" lIns="0" tIns="0" rIns="0" bIns="0" rtlCol="0" anchor="t"/>
          <a:lstStyle/>
          <a:p>
            <a:pPr indent="0" marL="0">
              <a:buNone/>
            </a:pPr>
            <a:r>
              <a:rPr lang="en-US" sz="1400" dirty="0">
                <a:solidFill>
                  <a:schemeClr val="accent5"/>
                </a:solidFill>
              </a:rPr>
              <a:t>Tickets arrive without the conversation, so agents re-ask and customers repeat themselves.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bg1"/>
        </a:solidFill>
      </p:bgPr>
    </p:bg>
    <p:spTree>
      <p:nvGrpSpPr>
        <p:cNvPr id="1" name=""/>
        <p:cNvGrpSpPr/>
        <p:nvPr/>
      </p:nvGrpSpPr>
      <p:grpSpPr>
        <a:xfrm>
          <a:off x="0" y="0"/>
          <a:ext cx="0" cy="0"/>
          <a:chOff x="0" y="0"/>
          <a:chExt cx="0" cy="0"/>
        </a:xfrm>
      </p:grpSpPr>
      <p:sp>
        <p:nvSpPr>
          <p:cNvPr id="2" name="Kicker"/>
          <p:cNvSpPr txBox="1"/>
          <p:nvPr/>
        </p:nvSpPr>
        <p:spPr>
          <a:xfrm>
            <a:off x="548640" y="365760"/>
            <a:ext cx="804672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WHY EXISTING BOTS DISAPPOINT</a:t>
            </a:r>
            <a:endParaRPr lang="en-US" sz="1200" dirty="0"/>
          </a:p>
        </p:txBody>
      </p:sp>
      <p:sp>
        <p:nvSpPr>
          <p:cNvPr id="3" name="Title"/>
          <p:cNvSpPr txBox="1"/>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Most chatbots fail the moment a customer needs something real</a:t>
            </a:r>
            <a:endParaRPr lang="en-US" sz="3000" dirty="0"/>
          </a:p>
        </p:txBody>
      </p:sp>
      <p:sp>
        <p:nvSpPr>
          <p:cNvPr id="4" name="Card"/>
          <p:cNvSpPr/>
          <p:nvPr/>
        </p:nvSpPr>
        <p:spPr>
          <a:xfrm>
            <a:off x="548640" y="1691640"/>
            <a:ext cx="3886200" cy="2926080"/>
          </a:xfrm>
          <a:prstGeom prst="rect">
            <a:avLst/>
          </a:prstGeom>
          <a:solidFill>
            <a:schemeClr val="bg2"/>
          </a:solidFill>
          <a:ln/>
        </p:spPr>
      </p:sp>
      <p:sp>
        <p:nvSpPr>
          <p:cNvPr id="5" name="ColHead"/>
          <p:cNvSpPr/>
          <p:nvPr/>
        </p:nvSpPr>
        <p:spPr>
          <a:xfrm>
            <a:off x="548640" y="1691640"/>
            <a:ext cx="3886200" cy="548640"/>
          </a:xfrm>
          <a:prstGeom prst="rect">
            <a:avLst/>
          </a:prstGeom>
          <a:solidFill>
            <a:schemeClr val="accent5"/>
          </a:solidFill>
          <a:ln/>
        </p:spPr>
      </p:sp>
      <p:sp>
        <p:nvSpPr>
          <p:cNvPr id="6" name="Text 4"/>
          <p:cNvSpPr txBox="1"/>
          <p:nvPr/>
        </p:nvSpPr>
        <p:spPr>
          <a:xfrm>
            <a:off x="777240" y="1691640"/>
            <a:ext cx="3474720" cy="548640"/>
          </a:xfrm>
          <a:prstGeom prst="rect">
            <a:avLst/>
          </a:prstGeom>
          <a:noFill/>
          <a:ln/>
        </p:spPr>
        <p:txBody>
          <a:bodyPr wrap="square" lIns="0" tIns="0" rIns="0" bIns="0" rtlCol="0" anchor="ctr"/>
          <a:lstStyle/>
          <a:p>
            <a:pPr indent="0" marL="0">
              <a:buNone/>
            </a:pPr>
            <a:r>
              <a:rPr lang="en-US" sz="1600" b="1" dirty="0">
                <a:solidFill>
                  <a:schemeClr val="bg1"/>
                </a:solidFill>
              </a:rPr>
              <a:t>Typical website chatbot</a:t>
            </a:r>
            <a:endParaRPr lang="en-US" sz="1600" dirty="0"/>
          </a:p>
        </p:txBody>
      </p:sp>
      <p:sp>
        <p:nvSpPr>
          <p:cNvPr id="7" name="Text 5"/>
          <p:cNvSpPr txBox="1"/>
          <p:nvPr/>
        </p:nvSpPr>
        <p:spPr>
          <a:xfrm>
            <a:off x="777240" y="2423160"/>
            <a:ext cx="342900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Guesses when it does not know — and sounds confident</a:t>
            </a:r>
            <a:endParaRPr lang="en-US" sz="1400" dirty="0"/>
          </a:p>
          <a:p>
            <a:pPr marL="342900" indent="-342900">
              <a:spcAft>
                <a:spcPts val="800"/>
              </a:spcAft>
              <a:buSzPct val="100000"/>
              <a:buChar char="•"/>
            </a:pPr>
            <a:r>
              <a:rPr lang="en-US" sz="1400" dirty="0">
                <a:solidFill>
                  <a:schemeClr val="tx1"/>
                </a:solidFill>
              </a:rPr>
              <a:t>Generic knowledge, not your policies</a:t>
            </a:r>
            <a:endParaRPr lang="en-US" sz="1400" dirty="0"/>
          </a:p>
          <a:p>
            <a:pPr marL="342900" indent="-342900">
              <a:spcAft>
                <a:spcPts val="800"/>
              </a:spcAft>
              <a:buSzPct val="100000"/>
              <a:buChar char="•"/>
            </a:pPr>
            <a:r>
              <a:rPr lang="en-US" sz="1400" dirty="0">
                <a:solidFill>
                  <a:schemeClr val="tx1"/>
                </a:solidFill>
              </a:rPr>
              <a:t>Cannot see orders, or sees anyone's</a:t>
            </a:r>
            <a:endParaRPr lang="en-US" sz="1400" dirty="0"/>
          </a:p>
          <a:p>
            <a:pPr marL="342900" indent="-342900">
              <a:spcAft>
                <a:spcPts val="800"/>
              </a:spcAft>
              <a:buSzPct val="100000"/>
              <a:buChar char="•"/>
            </a:pPr>
            <a:r>
              <a:rPr lang="en-US" sz="1400" dirty="0">
                <a:solidFill>
                  <a:schemeClr val="tx1"/>
                </a:solidFill>
              </a:rPr>
              <a:t>Dead end: “please email us”</a:t>
            </a:r>
            <a:endParaRPr lang="en-US" sz="1400" dirty="0"/>
          </a:p>
        </p:txBody>
      </p:sp>
      <p:sp>
        <p:nvSpPr>
          <p:cNvPr id="8" name="Card"/>
          <p:cNvSpPr/>
          <p:nvPr/>
        </p:nvSpPr>
        <p:spPr>
          <a:xfrm>
            <a:off x="4617720" y="1691640"/>
            <a:ext cx="3886200" cy="2926080"/>
          </a:xfrm>
          <a:prstGeom prst="rect">
            <a:avLst/>
          </a:prstGeom>
          <a:solidFill>
            <a:schemeClr val="bg2"/>
          </a:solidFill>
          <a:ln/>
        </p:spPr>
      </p:sp>
      <p:sp>
        <p:nvSpPr>
          <p:cNvPr id="9" name="ColHead"/>
          <p:cNvSpPr/>
          <p:nvPr/>
        </p:nvSpPr>
        <p:spPr>
          <a:xfrm>
            <a:off x="4617720" y="1691640"/>
            <a:ext cx="3886200" cy="548640"/>
          </a:xfrm>
          <a:prstGeom prst="rect">
            <a:avLst/>
          </a:prstGeom>
          <a:solidFill>
            <a:schemeClr val="tx1"/>
          </a:solidFill>
          <a:ln/>
        </p:spPr>
      </p:sp>
      <p:sp>
        <p:nvSpPr>
          <p:cNvPr id="10" name="Text 8"/>
          <p:cNvSpPr txBox="1"/>
          <p:nvPr/>
        </p:nvSpPr>
        <p:spPr>
          <a:xfrm>
            <a:off x="4846320" y="1691640"/>
            <a:ext cx="3474720" cy="548640"/>
          </a:xfrm>
          <a:prstGeom prst="rect">
            <a:avLst/>
          </a:prstGeom>
          <a:noFill/>
          <a:ln/>
        </p:spPr>
        <p:txBody>
          <a:bodyPr wrap="square" lIns="0" tIns="0" rIns="0" bIns="0" rtlCol="0" anchor="ctr"/>
          <a:lstStyle/>
          <a:p>
            <a:pPr indent="0" marL="0">
              <a:buNone/>
            </a:pPr>
            <a:r>
              <a:rPr lang="en-US" sz="1600" b="1" dirty="0">
                <a:solidFill>
                  <a:schemeClr val="bg1"/>
                </a:solidFill>
              </a:rPr>
              <a:t>SupportPilot AI</a:t>
            </a:r>
            <a:endParaRPr lang="en-US" sz="1600" dirty="0"/>
          </a:p>
        </p:txBody>
      </p:sp>
      <p:sp>
        <p:nvSpPr>
          <p:cNvPr id="11" name="Text 9"/>
          <p:cNvSpPr txBox="1"/>
          <p:nvPr/>
        </p:nvSpPr>
        <p:spPr>
          <a:xfrm>
            <a:off x="4846320" y="2423160"/>
            <a:ext cx="342900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Answers only from your documents, with source citations</a:t>
            </a:r>
            <a:endParaRPr lang="en-US" sz="1400" dirty="0"/>
          </a:p>
          <a:p>
            <a:pPr marL="342900" indent="-342900">
              <a:spcAft>
                <a:spcPts val="800"/>
              </a:spcAft>
              <a:buSzPct val="100000"/>
              <a:buChar char="•"/>
            </a:pPr>
            <a:r>
              <a:rPr lang="en-US" sz="1400" dirty="0">
                <a:solidFill>
                  <a:schemeClr val="tx1"/>
                </a:solidFill>
              </a:rPr>
              <a:t>Confidence gate: if unsure, it says so and escalates</a:t>
            </a:r>
            <a:endParaRPr lang="en-US" sz="1400" dirty="0"/>
          </a:p>
          <a:p>
            <a:pPr marL="342900" indent="-342900">
              <a:spcAft>
                <a:spcPts val="800"/>
              </a:spcAft>
              <a:buSzPct val="100000"/>
              <a:buChar char="•"/>
            </a:pPr>
            <a:r>
              <a:rPr lang="en-US" sz="1400" dirty="0">
                <a:solidFill>
                  <a:schemeClr val="tx1"/>
                </a:solidFill>
              </a:rPr>
              <a:t>Shows a customer only their own orders</a:t>
            </a:r>
            <a:endParaRPr lang="en-US" sz="1400" dirty="0"/>
          </a:p>
          <a:p>
            <a:pPr marL="342900" indent="-342900">
              <a:spcAft>
                <a:spcPts val="800"/>
              </a:spcAft>
              <a:buSzPct val="100000"/>
              <a:buChar char="•"/>
            </a:pPr>
            <a:r>
              <a:rPr lang="en-US" sz="1400" dirty="0">
                <a:solidFill>
                  <a:schemeClr val="tx1"/>
                </a:solidFill>
              </a:rPr>
              <a:t>Files a ticket or hands to a person — with full context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chemeClr val="bg1"/>
        </a:solidFill>
      </p:bgPr>
    </p:bg>
    <p:spTree>
      <p:nvGrpSpPr>
        <p:cNvPr id="1" name=""/>
        <p:cNvGrpSpPr/>
        <p:nvPr/>
      </p:nvGrpSpPr>
      <p:grpSpPr>
        <a:xfrm>
          <a:off x="0" y="0"/>
          <a:ext cx="0" cy="0"/>
          <a:chOff x="0" y="0"/>
          <a:chExt cx="0" cy="0"/>
        </a:xfrm>
      </p:grpSpPr>
      <p:sp>
        <p:nvSpPr>
          <p:cNvPr id="2" name="Kicker"/>
          <p:cNvSpPr txBox="1"/>
          <p:nvPr/>
        </p:nvSpPr>
        <p:spPr>
          <a:xfrm>
            <a:off x="548640" y="365760"/>
            <a:ext cx="804672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WHAT IT DOES</a:t>
            </a:r>
            <a:endParaRPr lang="en-US" sz="1200" dirty="0"/>
          </a:p>
        </p:txBody>
      </p:sp>
      <p:sp>
        <p:nvSpPr>
          <p:cNvPr id="3" name="Title"/>
          <p:cNvSpPr txBox="1"/>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One assistant, four jobs your customers actually need done</a:t>
            </a:r>
            <a:endParaRPr lang="en-US" sz="3000" dirty="0"/>
          </a:p>
        </p:txBody>
      </p:sp>
      <p:sp>
        <p:nvSpPr>
          <p:cNvPr id="4" name="Card"/>
          <p:cNvSpPr/>
          <p:nvPr/>
        </p:nvSpPr>
        <p:spPr>
          <a:xfrm>
            <a:off x="548640" y="1691640"/>
            <a:ext cx="3886200" cy="1417320"/>
          </a:xfrm>
          <a:prstGeom prst="rect">
            <a:avLst/>
          </a:prstGeom>
          <a:solidFill>
            <a:schemeClr val="bg2"/>
          </a:solidFill>
          <a:ln/>
        </p:spPr>
      </p:sp>
      <p:sp>
        <p:nvSpPr>
          <p:cNvPr id="5" name="Marker"/>
          <p:cNvSpPr/>
          <p:nvPr/>
        </p:nvSpPr>
        <p:spPr>
          <a:xfrm>
            <a:off x="777240" y="1920240"/>
            <a:ext cx="457200" cy="457200"/>
          </a:xfrm>
          <a:prstGeom prst="ellipse">
            <a:avLst/>
          </a:prstGeom>
          <a:solidFill>
            <a:schemeClr val="accent3"/>
          </a:solidFill>
          <a:ln/>
        </p:spPr>
      </p:sp>
      <p:sp>
        <p:nvSpPr>
          <p:cNvPr id="6" name="Text 4"/>
          <p:cNvSpPr txBox="1"/>
          <p:nvPr/>
        </p:nvSpPr>
        <p:spPr>
          <a:xfrm>
            <a:off x="1417320" y="1874520"/>
            <a:ext cx="2834640" cy="32004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Answers from your docs</a:t>
            </a:r>
            <a:endParaRPr lang="en-US" sz="1800" dirty="0"/>
          </a:p>
        </p:txBody>
      </p:sp>
      <p:sp>
        <p:nvSpPr>
          <p:cNvPr id="7" name="Text 5"/>
          <p:cNvSpPr txBox="1"/>
          <p:nvPr/>
        </p:nvSpPr>
        <p:spPr>
          <a:xfrm>
            <a:off x="1417320" y="2240280"/>
            <a:ext cx="2834640" cy="777240"/>
          </a:xfrm>
          <a:prstGeom prst="rect">
            <a:avLst/>
          </a:prstGeom>
          <a:noFill/>
          <a:ln/>
        </p:spPr>
        <p:txBody>
          <a:bodyPr wrap="square" lIns="0" tIns="0" rIns="0" bIns="0" rtlCol="0" anchor="t"/>
          <a:lstStyle/>
          <a:p>
            <a:pPr indent="0" marL="0">
              <a:buNone/>
            </a:pPr>
            <a:r>
              <a:rPr lang="en-US" sz="1400" dirty="0">
                <a:solidFill>
                  <a:schemeClr val="accent5"/>
                </a:solidFill>
              </a:rPr>
              <a:t>Upload your policies and FAQs. Replies cite the exact source passage.</a:t>
            </a:r>
            <a:endParaRPr lang="en-US" sz="1400" dirty="0"/>
          </a:p>
        </p:txBody>
      </p:sp>
      <p:sp>
        <p:nvSpPr>
          <p:cNvPr id="8" name="Card"/>
          <p:cNvSpPr/>
          <p:nvPr/>
        </p:nvSpPr>
        <p:spPr>
          <a:xfrm>
            <a:off x="4617720" y="1691640"/>
            <a:ext cx="3886200" cy="1417320"/>
          </a:xfrm>
          <a:prstGeom prst="rect">
            <a:avLst/>
          </a:prstGeom>
          <a:solidFill>
            <a:schemeClr val="bg2"/>
          </a:solidFill>
          <a:ln/>
        </p:spPr>
      </p:sp>
      <p:sp>
        <p:nvSpPr>
          <p:cNvPr id="9" name="Marker"/>
          <p:cNvSpPr/>
          <p:nvPr/>
        </p:nvSpPr>
        <p:spPr>
          <a:xfrm>
            <a:off x="4846320" y="1920240"/>
            <a:ext cx="457200" cy="457200"/>
          </a:xfrm>
          <a:prstGeom prst="ellipse">
            <a:avLst/>
          </a:prstGeom>
          <a:solidFill>
            <a:schemeClr val="accent2"/>
          </a:solidFill>
          <a:ln/>
        </p:spPr>
      </p:sp>
      <p:sp>
        <p:nvSpPr>
          <p:cNvPr id="10" name="Text 8"/>
          <p:cNvSpPr txBox="1"/>
          <p:nvPr/>
        </p:nvSpPr>
        <p:spPr>
          <a:xfrm>
            <a:off x="5486400" y="1874520"/>
            <a:ext cx="2834640" cy="32004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Checks order status</a:t>
            </a:r>
            <a:endParaRPr lang="en-US" sz="1800" dirty="0"/>
          </a:p>
        </p:txBody>
      </p:sp>
      <p:sp>
        <p:nvSpPr>
          <p:cNvPr id="11" name="Text 9"/>
          <p:cNvSpPr txBox="1"/>
          <p:nvPr/>
        </p:nvSpPr>
        <p:spPr>
          <a:xfrm>
            <a:off x="5486400" y="2240280"/>
            <a:ext cx="2834640" cy="777240"/>
          </a:xfrm>
          <a:prstGeom prst="rect">
            <a:avLst/>
          </a:prstGeom>
          <a:noFill/>
          <a:ln/>
        </p:spPr>
        <p:txBody>
          <a:bodyPr wrap="square" lIns="0" tIns="0" rIns="0" bIns="0" rtlCol="0" anchor="t"/>
          <a:lstStyle/>
          <a:p>
            <a:pPr indent="0" marL="0">
              <a:buNone/>
            </a:pPr>
            <a:r>
              <a:rPr lang="en-US" sz="1400" dirty="0">
                <a:solidFill>
                  <a:schemeClr val="accent5"/>
                </a:solidFill>
              </a:rPr>
              <a:t>Signed-in customers ask about their own orders in plain language.</a:t>
            </a:r>
            <a:endParaRPr lang="en-US" sz="1400" dirty="0"/>
          </a:p>
        </p:txBody>
      </p:sp>
      <p:sp>
        <p:nvSpPr>
          <p:cNvPr id="12" name="Card"/>
          <p:cNvSpPr/>
          <p:nvPr/>
        </p:nvSpPr>
        <p:spPr>
          <a:xfrm>
            <a:off x="548640" y="3291840"/>
            <a:ext cx="3886200" cy="1417320"/>
          </a:xfrm>
          <a:prstGeom prst="rect">
            <a:avLst/>
          </a:prstGeom>
          <a:solidFill>
            <a:schemeClr val="bg2"/>
          </a:solidFill>
          <a:ln/>
        </p:spPr>
      </p:sp>
      <p:sp>
        <p:nvSpPr>
          <p:cNvPr id="13" name="Marker"/>
          <p:cNvSpPr/>
          <p:nvPr/>
        </p:nvSpPr>
        <p:spPr>
          <a:xfrm>
            <a:off x="777240" y="3520440"/>
            <a:ext cx="457200" cy="457200"/>
          </a:xfrm>
          <a:prstGeom prst="ellipse">
            <a:avLst/>
          </a:prstGeom>
          <a:solidFill>
            <a:schemeClr val="accent1"/>
          </a:solidFill>
          <a:ln/>
        </p:spPr>
      </p:sp>
      <p:sp>
        <p:nvSpPr>
          <p:cNvPr id="14" name="Text 12"/>
          <p:cNvSpPr txBox="1"/>
          <p:nvPr/>
        </p:nvSpPr>
        <p:spPr>
          <a:xfrm>
            <a:off x="1417320" y="3474720"/>
            <a:ext cx="2834640" cy="32004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Opens support tickets</a:t>
            </a:r>
            <a:endParaRPr lang="en-US" sz="1800" dirty="0"/>
          </a:p>
        </p:txBody>
      </p:sp>
      <p:sp>
        <p:nvSpPr>
          <p:cNvPr id="15" name="Text 13"/>
          <p:cNvSpPr txBox="1"/>
          <p:nvPr/>
        </p:nvSpPr>
        <p:spPr>
          <a:xfrm>
            <a:off x="1417320" y="3840480"/>
            <a:ext cx="2834640" cy="777240"/>
          </a:xfrm>
          <a:prstGeom prst="rect">
            <a:avLst/>
          </a:prstGeom>
          <a:noFill/>
          <a:ln/>
        </p:spPr>
        <p:txBody>
          <a:bodyPr wrap="square" lIns="0" tIns="0" rIns="0" bIns="0" rtlCol="0" anchor="t"/>
          <a:lstStyle/>
          <a:p>
            <a:pPr indent="0" marL="0">
              <a:buNone/>
            </a:pPr>
            <a:r>
              <a:rPr lang="en-US" sz="1400" dirty="0">
                <a:solidFill>
                  <a:schemeClr val="accent5"/>
                </a:solidFill>
              </a:rPr>
              <a:t>Confirms with the customer, then files in Jira with the transcript attached.</a:t>
            </a:r>
            <a:endParaRPr lang="en-US" sz="1400" dirty="0"/>
          </a:p>
        </p:txBody>
      </p:sp>
      <p:sp>
        <p:nvSpPr>
          <p:cNvPr id="16" name="Card"/>
          <p:cNvSpPr/>
          <p:nvPr/>
        </p:nvSpPr>
        <p:spPr>
          <a:xfrm>
            <a:off x="4617720" y="3291840"/>
            <a:ext cx="3886200" cy="1417320"/>
          </a:xfrm>
          <a:prstGeom prst="rect">
            <a:avLst/>
          </a:prstGeom>
          <a:solidFill>
            <a:schemeClr val="bg2"/>
          </a:solidFill>
          <a:ln/>
        </p:spPr>
      </p:sp>
      <p:sp>
        <p:nvSpPr>
          <p:cNvPr id="17" name="Marker"/>
          <p:cNvSpPr/>
          <p:nvPr/>
        </p:nvSpPr>
        <p:spPr>
          <a:xfrm>
            <a:off x="4846320" y="3520440"/>
            <a:ext cx="457200" cy="457200"/>
          </a:xfrm>
          <a:prstGeom prst="ellipse">
            <a:avLst/>
          </a:prstGeom>
          <a:solidFill>
            <a:schemeClr val="accent4"/>
          </a:solidFill>
          <a:ln/>
        </p:spPr>
      </p:sp>
      <p:sp>
        <p:nvSpPr>
          <p:cNvPr id="18" name="Text 16"/>
          <p:cNvSpPr txBox="1"/>
          <p:nvPr/>
        </p:nvSpPr>
        <p:spPr>
          <a:xfrm>
            <a:off x="5486400" y="3474720"/>
            <a:ext cx="2834640" cy="32004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Hands off to a person</a:t>
            </a:r>
            <a:endParaRPr lang="en-US" sz="1800" dirty="0"/>
          </a:p>
        </p:txBody>
      </p:sp>
      <p:sp>
        <p:nvSpPr>
          <p:cNvPr id="19" name="Text 17"/>
          <p:cNvSpPr txBox="1"/>
          <p:nvPr/>
        </p:nvSpPr>
        <p:spPr>
          <a:xfrm>
            <a:off x="5486400" y="3840480"/>
            <a:ext cx="2834640" cy="777240"/>
          </a:xfrm>
          <a:prstGeom prst="rect">
            <a:avLst/>
          </a:prstGeom>
          <a:noFill/>
          <a:ln/>
        </p:spPr>
        <p:txBody>
          <a:bodyPr wrap="square" lIns="0" tIns="0" rIns="0" bIns="0" rtlCol="0" anchor="t"/>
          <a:lstStyle/>
          <a:p>
            <a:pPr indent="0" marL="0">
              <a:buNone/>
            </a:pPr>
            <a:r>
              <a:rPr lang="en-US" sz="1400" dirty="0">
                <a:solidFill>
                  <a:schemeClr val="accent5"/>
                </a:solidFill>
              </a:rPr>
              <a:t>Button, keyword, or automatic after repeated misses. Live agent console.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chemeClr val="tx2"/>
        </a:solidFill>
      </p:bgPr>
    </p:bg>
    <p:spTree>
      <p:nvGrpSpPr>
        <p:cNvPr id="1" name=""/>
        <p:cNvGrpSpPr/>
        <p:nvPr/>
      </p:nvGrpSpPr>
      <p:grpSpPr>
        <a:xfrm>
          <a:off x="0" y="0"/>
          <a:ext cx="0" cy="0"/>
          <a:chOff x="0" y="0"/>
          <a:chExt cx="0" cy="0"/>
        </a:xfrm>
      </p:grpSpPr>
      <p:sp>
        <p:nvSpPr>
          <p:cNvPr id="2" name="Kicker"/>
          <p:cNvSpPr txBox="1"/>
          <p:nvPr/>
        </p:nvSpPr>
        <p:spPr>
          <a:xfrm>
            <a:off x="548640" y="365760"/>
            <a:ext cx="804672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HOW IT WORKS</a:t>
            </a:r>
            <a:endParaRPr lang="en-US" sz="1200" dirty="0"/>
          </a:p>
        </p:txBody>
      </p:sp>
      <p:sp>
        <p:nvSpPr>
          <p:cNvPr id="3" name="Title"/>
          <p:cNvSpPr txBox="1"/>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Live on your site in four steps, no engineering project</a:t>
            </a:r>
            <a:endParaRPr lang="en-US" sz="3000" dirty="0"/>
          </a:p>
        </p:txBody>
      </p:sp>
      <p:sp>
        <p:nvSpPr>
          <p:cNvPr id="4" name="StepCard"/>
          <p:cNvSpPr/>
          <p:nvPr/>
        </p:nvSpPr>
        <p:spPr>
          <a:xfrm>
            <a:off x="548640" y="1828800"/>
            <a:ext cx="1874520" cy="2377440"/>
          </a:xfrm>
          <a:prstGeom prst="rect">
            <a:avLst/>
          </a:prstGeom>
          <a:solidFill>
            <a:schemeClr val="tx1"/>
          </a:solidFill>
          <a:ln/>
        </p:spPr>
      </p:sp>
      <p:sp>
        <p:nvSpPr>
          <p:cNvPr id="5" name="Badge"/>
          <p:cNvSpPr/>
          <p:nvPr/>
        </p:nvSpPr>
        <p:spPr>
          <a:xfrm>
            <a:off x="731520" y="2011680"/>
            <a:ext cx="457200" cy="457200"/>
          </a:xfrm>
          <a:prstGeom prst="ellipse">
            <a:avLst/>
          </a:prstGeom>
          <a:solidFill>
            <a:schemeClr val="accent1"/>
          </a:solidFill>
          <a:ln/>
        </p:spPr>
      </p:sp>
      <p:sp>
        <p:nvSpPr>
          <p:cNvPr id="6" name="Text 4"/>
          <p:cNvSpPr txBox="1"/>
          <p:nvPr/>
        </p:nvSpPr>
        <p:spPr>
          <a:xfrm>
            <a:off x="731520" y="201168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7" name="Text 5"/>
          <p:cNvSpPr txBox="1"/>
          <p:nvPr/>
        </p:nvSpPr>
        <p:spPr>
          <a:xfrm>
            <a:off x="731520" y="2651760"/>
            <a:ext cx="1554480" cy="365760"/>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Add one tag</a:t>
            </a:r>
            <a:endParaRPr lang="en-US" sz="1700" dirty="0"/>
          </a:p>
        </p:txBody>
      </p:sp>
      <p:sp>
        <p:nvSpPr>
          <p:cNvPr id="8" name="Text 6"/>
          <p:cNvSpPr txBox="1"/>
          <p:nvPr/>
        </p:nvSpPr>
        <p:spPr>
          <a:xfrm>
            <a:off x="731520" y="3063240"/>
            <a:ext cx="1554480" cy="1005840"/>
          </a:xfrm>
          <a:prstGeom prst="rect">
            <a:avLst/>
          </a:prstGeom>
          <a:noFill/>
          <a:ln/>
        </p:spPr>
        <p:txBody>
          <a:bodyPr wrap="square" lIns="0" tIns="0" rIns="0" bIns="0" rtlCol="0" anchor="t"/>
          <a:lstStyle/>
          <a:p>
            <a:pPr indent="0" marL="0">
              <a:buNone/>
            </a:pPr>
            <a:r>
              <a:rPr lang="en-US" sz="1400" dirty="0">
                <a:solidFill>
                  <a:schemeClr val="accent6"/>
                </a:solidFill>
              </a:rPr>
              <a:t>Paste a single script tag on your website.</a:t>
            </a:r>
            <a:endParaRPr lang="en-US" sz="1400" dirty="0"/>
          </a:p>
        </p:txBody>
      </p:sp>
      <p:sp>
        <p:nvSpPr>
          <p:cNvPr id="9" name="StepCard"/>
          <p:cNvSpPr/>
          <p:nvPr/>
        </p:nvSpPr>
        <p:spPr>
          <a:xfrm>
            <a:off x="2606040" y="1828800"/>
            <a:ext cx="1874520" cy="2377440"/>
          </a:xfrm>
          <a:prstGeom prst="rect">
            <a:avLst/>
          </a:prstGeom>
          <a:solidFill>
            <a:schemeClr val="tx1"/>
          </a:solidFill>
          <a:ln/>
        </p:spPr>
      </p:sp>
      <p:sp>
        <p:nvSpPr>
          <p:cNvPr id="10" name="Badge"/>
          <p:cNvSpPr/>
          <p:nvPr/>
        </p:nvSpPr>
        <p:spPr>
          <a:xfrm>
            <a:off x="2788920" y="2011680"/>
            <a:ext cx="457200" cy="457200"/>
          </a:xfrm>
          <a:prstGeom prst="ellipse">
            <a:avLst/>
          </a:prstGeom>
          <a:solidFill>
            <a:schemeClr val="accent1"/>
          </a:solidFill>
          <a:ln/>
        </p:spPr>
      </p:sp>
      <p:sp>
        <p:nvSpPr>
          <p:cNvPr id="11" name="Text 9"/>
          <p:cNvSpPr txBox="1"/>
          <p:nvPr/>
        </p:nvSpPr>
        <p:spPr>
          <a:xfrm>
            <a:off x="2788920" y="201168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2" name="Text 10"/>
          <p:cNvSpPr txBox="1"/>
          <p:nvPr/>
        </p:nvSpPr>
        <p:spPr>
          <a:xfrm>
            <a:off x="2788920" y="2651760"/>
            <a:ext cx="1554480" cy="365760"/>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Add your docs</a:t>
            </a:r>
            <a:endParaRPr lang="en-US" sz="1700" dirty="0"/>
          </a:p>
        </p:txBody>
      </p:sp>
      <p:sp>
        <p:nvSpPr>
          <p:cNvPr id="13" name="Text 11"/>
          <p:cNvSpPr txBox="1"/>
          <p:nvPr/>
        </p:nvSpPr>
        <p:spPr>
          <a:xfrm>
            <a:off x="2788920" y="3063240"/>
            <a:ext cx="1554480" cy="1005840"/>
          </a:xfrm>
          <a:prstGeom prst="rect">
            <a:avLst/>
          </a:prstGeom>
          <a:noFill/>
          <a:ln/>
        </p:spPr>
        <p:txBody>
          <a:bodyPr wrap="square" lIns="0" tIns="0" rIns="0" bIns="0" rtlCol="0" anchor="t"/>
          <a:lstStyle/>
          <a:p>
            <a:pPr indent="0" marL="0">
              <a:buNone/>
            </a:pPr>
            <a:r>
              <a:rPr lang="en-US" sz="1400" dirty="0">
                <a:solidFill>
                  <a:schemeClr val="accent6"/>
                </a:solidFill>
              </a:rPr>
              <a:t>Drop in policies and FAQs, or upload via the admin API.</a:t>
            </a:r>
            <a:endParaRPr lang="en-US" sz="1400" dirty="0"/>
          </a:p>
        </p:txBody>
      </p:sp>
      <p:sp>
        <p:nvSpPr>
          <p:cNvPr id="14" name="StepCard"/>
          <p:cNvSpPr/>
          <p:nvPr/>
        </p:nvSpPr>
        <p:spPr>
          <a:xfrm>
            <a:off x="4663440" y="1828800"/>
            <a:ext cx="1874520" cy="2377440"/>
          </a:xfrm>
          <a:prstGeom prst="rect">
            <a:avLst/>
          </a:prstGeom>
          <a:solidFill>
            <a:schemeClr val="tx1"/>
          </a:solidFill>
          <a:ln/>
        </p:spPr>
      </p:sp>
      <p:sp>
        <p:nvSpPr>
          <p:cNvPr id="15" name="Badge"/>
          <p:cNvSpPr/>
          <p:nvPr/>
        </p:nvSpPr>
        <p:spPr>
          <a:xfrm>
            <a:off x="4846320" y="2011680"/>
            <a:ext cx="457200" cy="457200"/>
          </a:xfrm>
          <a:prstGeom prst="ellipse">
            <a:avLst/>
          </a:prstGeom>
          <a:solidFill>
            <a:schemeClr val="accent1"/>
          </a:solidFill>
          <a:ln/>
        </p:spPr>
      </p:sp>
      <p:sp>
        <p:nvSpPr>
          <p:cNvPr id="16" name="Text 14"/>
          <p:cNvSpPr txBox="1"/>
          <p:nvPr/>
        </p:nvSpPr>
        <p:spPr>
          <a:xfrm>
            <a:off x="4846320" y="201168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7" name="Text 15"/>
          <p:cNvSpPr txBox="1"/>
          <p:nvPr/>
        </p:nvSpPr>
        <p:spPr>
          <a:xfrm>
            <a:off x="4846320" y="2651760"/>
            <a:ext cx="1554480" cy="365760"/>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Connect</a:t>
            </a:r>
            <a:endParaRPr lang="en-US" sz="1700" dirty="0"/>
          </a:p>
        </p:txBody>
      </p:sp>
      <p:sp>
        <p:nvSpPr>
          <p:cNvPr id="18" name="Text 16"/>
          <p:cNvSpPr txBox="1"/>
          <p:nvPr/>
        </p:nvSpPr>
        <p:spPr>
          <a:xfrm>
            <a:off x="4846320" y="3063240"/>
            <a:ext cx="1554480" cy="1005840"/>
          </a:xfrm>
          <a:prstGeom prst="rect">
            <a:avLst/>
          </a:prstGeom>
          <a:noFill/>
          <a:ln/>
        </p:spPr>
        <p:txBody>
          <a:bodyPr wrap="square" lIns="0" tIns="0" rIns="0" bIns="0" rtlCol="0" anchor="t"/>
          <a:lstStyle/>
          <a:p>
            <a:pPr indent="0" marL="0">
              <a:buNone/>
            </a:pPr>
            <a:r>
              <a:rPr lang="en-US" sz="1400" dirty="0">
                <a:solidFill>
                  <a:schemeClr val="accent6"/>
                </a:solidFill>
              </a:rPr>
              <a:t>Pick your AI provider; link orders and Jira.</a:t>
            </a:r>
            <a:endParaRPr lang="en-US" sz="1400" dirty="0"/>
          </a:p>
        </p:txBody>
      </p:sp>
      <p:sp>
        <p:nvSpPr>
          <p:cNvPr id="19" name="StepCard"/>
          <p:cNvSpPr/>
          <p:nvPr/>
        </p:nvSpPr>
        <p:spPr>
          <a:xfrm>
            <a:off x="6720840" y="1828800"/>
            <a:ext cx="1874520" cy="2377440"/>
          </a:xfrm>
          <a:prstGeom prst="rect">
            <a:avLst/>
          </a:prstGeom>
          <a:solidFill>
            <a:schemeClr val="tx1"/>
          </a:solidFill>
          <a:ln/>
        </p:spPr>
      </p:sp>
      <p:sp>
        <p:nvSpPr>
          <p:cNvPr id="20" name="Badge"/>
          <p:cNvSpPr/>
          <p:nvPr/>
        </p:nvSpPr>
        <p:spPr>
          <a:xfrm>
            <a:off x="6903720" y="2011680"/>
            <a:ext cx="457200" cy="457200"/>
          </a:xfrm>
          <a:prstGeom prst="ellipse">
            <a:avLst/>
          </a:prstGeom>
          <a:solidFill>
            <a:schemeClr val="accent1"/>
          </a:solidFill>
          <a:ln/>
        </p:spPr>
      </p:sp>
      <p:sp>
        <p:nvSpPr>
          <p:cNvPr id="21" name="Text 19"/>
          <p:cNvSpPr txBox="1"/>
          <p:nvPr/>
        </p:nvSpPr>
        <p:spPr>
          <a:xfrm>
            <a:off x="6903720" y="201168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22" name="Text 20"/>
          <p:cNvSpPr txBox="1"/>
          <p:nvPr/>
        </p:nvSpPr>
        <p:spPr>
          <a:xfrm>
            <a:off x="6903720" y="2651760"/>
            <a:ext cx="1554480" cy="365760"/>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Go live</a:t>
            </a:r>
            <a:endParaRPr lang="en-US" sz="1700" dirty="0"/>
          </a:p>
        </p:txBody>
      </p:sp>
      <p:sp>
        <p:nvSpPr>
          <p:cNvPr id="23" name="Text 21"/>
          <p:cNvSpPr txBox="1"/>
          <p:nvPr/>
        </p:nvSpPr>
        <p:spPr>
          <a:xfrm>
            <a:off x="6903720" y="3063240"/>
            <a:ext cx="1554480" cy="1005840"/>
          </a:xfrm>
          <a:prstGeom prst="rect">
            <a:avLst/>
          </a:prstGeom>
          <a:noFill/>
          <a:ln/>
        </p:spPr>
        <p:txBody>
          <a:bodyPr wrap="square" lIns="0" tIns="0" rIns="0" bIns="0" rtlCol="0" anchor="t"/>
          <a:lstStyle/>
          <a:p>
            <a:pPr indent="0" marL="0">
              <a:buNone/>
            </a:pPr>
            <a:r>
              <a:rPr lang="en-US" sz="1400" dirty="0">
                <a:solidFill>
                  <a:schemeClr val="accent6"/>
                </a:solidFill>
              </a:rPr>
              <a:t>Customers chat; your team takes over when needed.</a:t>
            </a:r>
            <a:endParaRPr lang="en-US" sz="1400" dirty="0"/>
          </a:p>
        </p:txBody>
      </p:sp>
      <p:sp>
        <p:nvSpPr>
          <p:cNvPr id="24" name="Text 22"/>
          <p:cNvSpPr txBox="1"/>
          <p:nvPr/>
        </p:nvSpPr>
        <p:spPr>
          <a:xfrm>
            <a:off x="548640" y="4434840"/>
            <a:ext cx="8046720" cy="365760"/>
          </a:xfrm>
          <a:prstGeom prst="rect">
            <a:avLst/>
          </a:prstGeom>
          <a:noFill/>
          <a:ln/>
        </p:spPr>
        <p:txBody>
          <a:bodyPr wrap="square" lIns="0" tIns="0" rIns="0" bIns="0" rtlCol="0" anchor="ctr"/>
          <a:lstStyle/>
          <a:p>
            <a:pPr indent="0" marL="0">
              <a:buNone/>
            </a:pPr>
            <a:r>
              <a:rPr lang="en-US" sz="1400" i="1" dirty="0">
                <a:solidFill>
                  <a:schemeClr val="accent6"/>
                </a:solidFill>
              </a:rPr>
              <a:t>New customers (tenants) are onboarded with configuration only — each gets an isolated knowledge base, branding, and agents.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chemeClr val="bg1"/>
        </a:solidFill>
      </p:bgPr>
    </p:bg>
    <p:spTree>
      <p:nvGrpSpPr>
        <p:cNvPr id="1" name=""/>
        <p:cNvGrpSpPr/>
        <p:nvPr/>
      </p:nvGrpSpPr>
      <p:grpSpPr>
        <a:xfrm>
          <a:off x="0" y="0"/>
          <a:ext cx="0" cy="0"/>
          <a:chOff x="0" y="0"/>
          <a:chExt cx="0" cy="0"/>
        </a:xfrm>
      </p:grpSpPr>
      <p:sp>
        <p:nvSpPr>
          <p:cNvPr id="2" name="Kicker"/>
          <p:cNvSpPr txBox="1"/>
          <p:nvPr/>
        </p:nvSpPr>
        <p:spPr>
          <a:xfrm>
            <a:off x="548640" y="365760"/>
            <a:ext cx="804672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BUILT FOR TRUST</a:t>
            </a:r>
            <a:endParaRPr lang="en-US" sz="1200" dirty="0"/>
          </a:p>
        </p:txBody>
      </p:sp>
      <p:sp>
        <p:nvSpPr>
          <p:cNvPr id="3" name="Title"/>
          <p:cNvSpPr txBox="1"/>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Customers can only ever see their own orders</a:t>
            </a:r>
            <a:endParaRPr lang="en-US" sz="3000" dirty="0"/>
          </a:p>
        </p:txBody>
      </p:sp>
      <p:sp>
        <p:nvSpPr>
          <p:cNvPr id="4" name="Text 2"/>
          <p:cNvSpPr txBox="1"/>
          <p:nvPr/>
        </p:nvSpPr>
        <p:spPr>
          <a:xfrm>
            <a:off x="548640" y="1508760"/>
            <a:ext cx="8046720" cy="365760"/>
          </a:xfrm>
          <a:prstGeom prst="rect">
            <a:avLst/>
          </a:prstGeom>
          <a:noFill/>
          <a:ln/>
        </p:spPr>
        <p:txBody>
          <a:bodyPr wrap="square" lIns="0" tIns="0" rIns="0" bIns="0" rtlCol="0" anchor="ctr"/>
          <a:lstStyle/>
          <a:p>
            <a:pPr indent="0" marL="0">
              <a:buNone/>
            </a:pPr>
            <a:r>
              <a:rPr lang="en-US" sz="1600" dirty="0">
                <a:solidFill>
                  <a:schemeClr val="accent5"/>
                </a:solidFill>
              </a:rPr>
              <a:t>Identity comes from your backend, not from the chat — and not from the AI.</a:t>
            </a:r>
            <a:endParaRPr lang="en-US" sz="1600" dirty="0"/>
          </a:p>
        </p:txBody>
      </p:sp>
      <p:sp>
        <p:nvSpPr>
          <p:cNvPr id="5" name="Card"/>
          <p:cNvSpPr/>
          <p:nvPr/>
        </p:nvSpPr>
        <p:spPr>
          <a:xfrm>
            <a:off x="548640" y="2057400"/>
            <a:ext cx="3886200" cy="1234440"/>
          </a:xfrm>
          <a:prstGeom prst="rect">
            <a:avLst/>
          </a:prstGeom>
          <a:solidFill>
            <a:schemeClr val="bg2"/>
          </a:solidFill>
          <a:ln/>
        </p:spPr>
      </p:sp>
      <p:sp>
        <p:nvSpPr>
          <p:cNvPr id="6" name="Badge"/>
          <p:cNvSpPr/>
          <p:nvPr/>
        </p:nvSpPr>
        <p:spPr>
          <a:xfrm>
            <a:off x="777240" y="2286000"/>
            <a:ext cx="457200" cy="457200"/>
          </a:xfrm>
          <a:prstGeom prst="ellipse">
            <a:avLst/>
          </a:prstGeom>
          <a:solidFill>
            <a:schemeClr val="accent2"/>
          </a:solidFill>
          <a:ln/>
        </p:spPr>
      </p:sp>
      <p:sp>
        <p:nvSpPr>
          <p:cNvPr id="7" name="Text 5"/>
          <p:cNvSpPr txBox="1"/>
          <p:nvPr/>
        </p:nvSpPr>
        <p:spPr>
          <a:xfrm>
            <a:off x="777240" y="2286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6"/>
          <p:cNvSpPr txBox="1"/>
          <p:nvPr/>
        </p:nvSpPr>
        <p:spPr>
          <a:xfrm>
            <a:off x="1417320" y="2194560"/>
            <a:ext cx="2834640" cy="3200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Signed identity</a:t>
            </a:r>
            <a:endParaRPr lang="en-US" sz="1700" dirty="0"/>
          </a:p>
        </p:txBody>
      </p:sp>
      <p:sp>
        <p:nvSpPr>
          <p:cNvPr id="9" name="Text 7"/>
          <p:cNvSpPr txBox="1"/>
          <p:nvPr/>
        </p:nvSpPr>
        <p:spPr>
          <a:xfrm>
            <a:off x="1417320" y="2514600"/>
            <a:ext cx="2834640" cy="731520"/>
          </a:xfrm>
          <a:prstGeom prst="rect">
            <a:avLst/>
          </a:prstGeom>
          <a:noFill/>
          <a:ln/>
        </p:spPr>
        <p:txBody>
          <a:bodyPr wrap="square" lIns="0" tIns="0" rIns="0" bIns="0" rtlCol="0" anchor="t"/>
          <a:lstStyle/>
          <a:p>
            <a:pPr indent="0" marL="0">
              <a:buNone/>
            </a:pPr>
            <a:r>
              <a:rPr lang="en-US" sz="1400" dirty="0">
                <a:solidFill>
                  <a:schemeClr val="accent5"/>
                </a:solidFill>
              </a:rPr>
              <a:t>Your server issues a short-lived signed token. A forged, expired, or other-company token is rejected.</a:t>
            </a:r>
            <a:endParaRPr lang="en-US" sz="1400" dirty="0"/>
          </a:p>
        </p:txBody>
      </p:sp>
      <p:sp>
        <p:nvSpPr>
          <p:cNvPr id="10" name="Card"/>
          <p:cNvSpPr/>
          <p:nvPr/>
        </p:nvSpPr>
        <p:spPr>
          <a:xfrm>
            <a:off x="4617720" y="2057400"/>
            <a:ext cx="3886200" cy="1234440"/>
          </a:xfrm>
          <a:prstGeom prst="rect">
            <a:avLst/>
          </a:prstGeom>
          <a:solidFill>
            <a:schemeClr val="bg2"/>
          </a:solidFill>
          <a:ln/>
        </p:spPr>
      </p:sp>
      <p:sp>
        <p:nvSpPr>
          <p:cNvPr id="11" name="Badge"/>
          <p:cNvSpPr/>
          <p:nvPr/>
        </p:nvSpPr>
        <p:spPr>
          <a:xfrm>
            <a:off x="4846320" y="2286000"/>
            <a:ext cx="457200" cy="457200"/>
          </a:xfrm>
          <a:prstGeom prst="ellipse">
            <a:avLst/>
          </a:prstGeom>
          <a:solidFill>
            <a:schemeClr val="accent2"/>
          </a:solidFill>
          <a:ln/>
        </p:spPr>
      </p:sp>
      <p:sp>
        <p:nvSpPr>
          <p:cNvPr id="12" name="Text 10"/>
          <p:cNvSpPr txBox="1"/>
          <p:nvPr/>
        </p:nvSpPr>
        <p:spPr>
          <a:xfrm>
            <a:off x="4846320" y="2286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1"/>
          <p:cNvSpPr txBox="1"/>
          <p:nvPr/>
        </p:nvSpPr>
        <p:spPr>
          <a:xfrm>
            <a:off x="5486400" y="2194560"/>
            <a:ext cx="2834640" cy="3200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AI cannot choose whose data</a:t>
            </a:r>
            <a:endParaRPr lang="en-US" sz="1700" dirty="0"/>
          </a:p>
        </p:txBody>
      </p:sp>
      <p:sp>
        <p:nvSpPr>
          <p:cNvPr id="14" name="Text 12"/>
          <p:cNvSpPr txBox="1"/>
          <p:nvPr/>
        </p:nvSpPr>
        <p:spPr>
          <a:xfrm>
            <a:off x="5486400" y="2514600"/>
            <a:ext cx="2834640" cy="731520"/>
          </a:xfrm>
          <a:prstGeom prst="rect">
            <a:avLst/>
          </a:prstGeom>
          <a:noFill/>
          <a:ln/>
        </p:spPr>
        <p:txBody>
          <a:bodyPr wrap="square" lIns="0" tIns="0" rIns="0" bIns="0" rtlCol="0" anchor="t"/>
          <a:lstStyle/>
          <a:p>
            <a:pPr indent="0" marL="0">
              <a:buNone/>
            </a:pPr>
            <a:r>
              <a:rPr lang="en-US" sz="1400" dirty="0">
                <a:solidFill>
                  <a:schemeClr val="accent5"/>
                </a:solidFill>
              </a:rPr>
              <a:t>Order lookups never take a customer id from the model — it is injected server-side.</a:t>
            </a:r>
            <a:endParaRPr lang="en-US" sz="1400" dirty="0"/>
          </a:p>
        </p:txBody>
      </p:sp>
      <p:sp>
        <p:nvSpPr>
          <p:cNvPr id="15" name="Card"/>
          <p:cNvSpPr/>
          <p:nvPr/>
        </p:nvSpPr>
        <p:spPr>
          <a:xfrm>
            <a:off x="548640" y="3429000"/>
            <a:ext cx="3886200" cy="1234440"/>
          </a:xfrm>
          <a:prstGeom prst="rect">
            <a:avLst/>
          </a:prstGeom>
          <a:solidFill>
            <a:schemeClr val="bg2"/>
          </a:solidFill>
          <a:ln/>
        </p:spPr>
      </p:sp>
      <p:sp>
        <p:nvSpPr>
          <p:cNvPr id="16" name="Badge"/>
          <p:cNvSpPr/>
          <p:nvPr/>
        </p:nvSpPr>
        <p:spPr>
          <a:xfrm>
            <a:off x="777240" y="3657600"/>
            <a:ext cx="457200" cy="457200"/>
          </a:xfrm>
          <a:prstGeom prst="ellipse">
            <a:avLst/>
          </a:prstGeom>
          <a:solidFill>
            <a:schemeClr val="accent2"/>
          </a:solidFill>
          <a:ln/>
        </p:spPr>
      </p:sp>
      <p:sp>
        <p:nvSpPr>
          <p:cNvPr id="17" name="Text 15"/>
          <p:cNvSpPr txBox="1"/>
          <p:nvPr/>
        </p:nvSpPr>
        <p:spPr>
          <a:xfrm>
            <a:off x="777240" y="3657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1417320" y="3566160"/>
            <a:ext cx="2834640" cy="3200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No information leaks</a:t>
            </a:r>
            <a:endParaRPr lang="en-US" sz="1700" dirty="0"/>
          </a:p>
        </p:txBody>
      </p:sp>
      <p:sp>
        <p:nvSpPr>
          <p:cNvPr id="19" name="Text 17"/>
          <p:cNvSpPr txBox="1"/>
          <p:nvPr/>
        </p:nvSpPr>
        <p:spPr>
          <a:xfrm>
            <a:off x="1417320" y="3886200"/>
            <a:ext cx="2834640" cy="731520"/>
          </a:xfrm>
          <a:prstGeom prst="rect">
            <a:avLst/>
          </a:prstGeom>
          <a:noFill/>
          <a:ln/>
        </p:spPr>
        <p:txBody>
          <a:bodyPr wrap="square" lIns="0" tIns="0" rIns="0" bIns="0" rtlCol="0" anchor="t"/>
          <a:lstStyle/>
          <a:p>
            <a:pPr indent="0" marL="0">
              <a:buNone/>
            </a:pPr>
            <a:r>
              <a:rPr lang="en-US" sz="1400" dirty="0">
                <a:solidFill>
                  <a:schemeClr val="accent5"/>
                </a:solidFill>
              </a:rPr>
              <a:t>Someone else's order and a non-existent order look identical to the asker.</a:t>
            </a:r>
            <a:endParaRPr lang="en-US" sz="1400" dirty="0"/>
          </a:p>
        </p:txBody>
      </p:sp>
      <p:sp>
        <p:nvSpPr>
          <p:cNvPr id="20" name="Card"/>
          <p:cNvSpPr/>
          <p:nvPr/>
        </p:nvSpPr>
        <p:spPr>
          <a:xfrm>
            <a:off x="4617720" y="3429000"/>
            <a:ext cx="3886200" cy="1234440"/>
          </a:xfrm>
          <a:prstGeom prst="rect">
            <a:avLst/>
          </a:prstGeom>
          <a:solidFill>
            <a:schemeClr val="bg2"/>
          </a:solidFill>
          <a:ln/>
        </p:spPr>
      </p:sp>
      <p:sp>
        <p:nvSpPr>
          <p:cNvPr id="21" name="Badge"/>
          <p:cNvSpPr/>
          <p:nvPr/>
        </p:nvSpPr>
        <p:spPr>
          <a:xfrm>
            <a:off x="4846320" y="3657600"/>
            <a:ext cx="457200" cy="457200"/>
          </a:xfrm>
          <a:prstGeom prst="ellipse">
            <a:avLst/>
          </a:prstGeom>
          <a:solidFill>
            <a:schemeClr val="accent2"/>
          </a:solidFill>
          <a:ln/>
        </p:spPr>
      </p:sp>
      <p:sp>
        <p:nvSpPr>
          <p:cNvPr id="22" name="Text 20"/>
          <p:cNvSpPr txBox="1"/>
          <p:nvPr/>
        </p:nvSpPr>
        <p:spPr>
          <a:xfrm>
            <a:off x="4846320" y="3657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3" name="Text 21"/>
          <p:cNvSpPr txBox="1"/>
          <p:nvPr/>
        </p:nvSpPr>
        <p:spPr>
          <a:xfrm>
            <a:off x="5486400" y="3566160"/>
            <a:ext cx="2834640" cy="3200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Everything audited</a:t>
            </a:r>
            <a:endParaRPr lang="en-US" sz="1700" dirty="0"/>
          </a:p>
        </p:txBody>
      </p:sp>
      <p:sp>
        <p:nvSpPr>
          <p:cNvPr id="24" name="Text 22"/>
          <p:cNvSpPr txBox="1"/>
          <p:nvPr/>
        </p:nvSpPr>
        <p:spPr>
          <a:xfrm>
            <a:off x="5486400" y="3886200"/>
            <a:ext cx="2834640" cy="731520"/>
          </a:xfrm>
          <a:prstGeom prst="rect">
            <a:avLst/>
          </a:prstGeom>
          <a:noFill/>
          <a:ln/>
        </p:spPr>
        <p:txBody>
          <a:bodyPr wrap="square" lIns="0" tIns="0" rIns="0" bIns="0" rtlCol="0" anchor="t"/>
          <a:lstStyle/>
          <a:p>
            <a:pPr indent="0" marL="0">
              <a:buNone/>
            </a:pPr>
            <a:r>
              <a:rPr lang="en-US" sz="1400" dirty="0">
                <a:solidFill>
                  <a:schemeClr val="accent5"/>
                </a:solidFill>
              </a:rPr>
              <a:t>Every lookup is logged. Each company's data is fully isolated.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chemeClr val="bg1"/>
        </a:solidFill>
      </p:bgPr>
    </p:bg>
    <p:spTree>
      <p:nvGrpSpPr>
        <p:cNvPr id="1" name=""/>
        <p:cNvGrpSpPr/>
        <p:nvPr/>
      </p:nvGrpSpPr>
      <p:grpSpPr>
        <a:xfrm>
          <a:off x="0" y="0"/>
          <a:ext cx="0" cy="0"/>
          <a:chOff x="0" y="0"/>
          <a:chExt cx="0" cy="0"/>
        </a:xfrm>
      </p:grpSpPr>
      <p:sp>
        <p:nvSpPr>
          <p:cNvPr id="2" name="Kicker"/>
          <p:cNvSpPr txBox="1"/>
          <p:nvPr/>
        </p:nvSpPr>
        <p:spPr>
          <a:xfrm>
            <a:off x="548640" y="365760"/>
            <a:ext cx="804672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HUMAN HANDOFF</a:t>
            </a:r>
            <a:endParaRPr lang="en-US" sz="1200" dirty="0"/>
          </a:p>
        </p:txBody>
      </p:sp>
      <p:sp>
        <p:nvSpPr>
          <p:cNvPr id="3" name="Title"/>
          <p:cNvSpPr txBox="1"/>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Humans stay in control — customers are never stranded</a:t>
            </a:r>
            <a:endParaRPr lang="en-US" sz="3000" dirty="0"/>
          </a:p>
        </p:txBody>
      </p:sp>
      <p:sp>
        <p:nvSpPr>
          <p:cNvPr id="4" name="State"/>
          <p:cNvSpPr/>
          <p:nvPr/>
        </p:nvSpPr>
        <p:spPr>
          <a:xfrm>
            <a:off x="548640" y="1737360"/>
            <a:ext cx="1783080" cy="914400"/>
          </a:xfrm>
          <a:prstGeom prst="roundRect">
            <a:avLst>
              <a:gd name="adj" fmla="val 12000"/>
            </a:avLst>
          </a:prstGeom>
          <a:solidFill>
            <a:schemeClr val="tx1"/>
          </a:solidFill>
          <a:ln/>
        </p:spPr>
      </p:sp>
      <p:sp>
        <p:nvSpPr>
          <p:cNvPr id="5" name="Text 3"/>
          <p:cNvSpPr txBox="1"/>
          <p:nvPr/>
        </p:nvSpPr>
        <p:spPr>
          <a:xfrm>
            <a:off x="548640" y="1783080"/>
            <a:ext cx="178308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Bot</a:t>
            </a:r>
            <a:endParaRPr lang="en-US" sz="1800" dirty="0"/>
          </a:p>
        </p:txBody>
      </p:sp>
      <p:sp>
        <p:nvSpPr>
          <p:cNvPr id="6" name="Text 4"/>
          <p:cNvSpPr txBox="1"/>
          <p:nvPr/>
        </p:nvSpPr>
        <p:spPr>
          <a:xfrm>
            <a:off x="548640" y="2194560"/>
            <a:ext cx="1783080" cy="365760"/>
          </a:xfrm>
          <a:prstGeom prst="rect">
            <a:avLst/>
          </a:prstGeom>
          <a:noFill/>
          <a:ln/>
        </p:spPr>
        <p:txBody>
          <a:bodyPr wrap="square" lIns="0" tIns="0" rIns="0" bIns="0" rtlCol="0" anchor="t"/>
          <a:lstStyle/>
          <a:p>
            <a:pPr algn="ctr" indent="0" marL="0">
              <a:buNone/>
            </a:pPr>
            <a:r>
              <a:rPr lang="en-US" sz="1200" dirty="0">
                <a:solidFill>
                  <a:schemeClr val="accent6"/>
                </a:solidFill>
              </a:rPr>
              <a:t>AI handles it</a:t>
            </a:r>
            <a:endParaRPr lang="en-US" sz="1200" dirty="0"/>
          </a:p>
        </p:txBody>
      </p:sp>
      <p:sp>
        <p:nvSpPr>
          <p:cNvPr id="7" name="Text 5"/>
          <p:cNvSpPr txBox="1"/>
          <p:nvPr/>
        </p:nvSpPr>
        <p:spPr>
          <a:xfrm>
            <a:off x="2331720" y="1874520"/>
            <a:ext cx="274320" cy="640080"/>
          </a:xfrm>
          <a:prstGeom prst="rect">
            <a:avLst/>
          </a:prstGeom>
          <a:noFill/>
          <a:ln/>
        </p:spPr>
        <p:txBody>
          <a:bodyPr wrap="square" lIns="0" tIns="0" rIns="0" bIns="0" rtlCol="0" anchor="ctr"/>
          <a:lstStyle/>
          <a:p>
            <a:pPr algn="ctr" indent="0" marL="0">
              <a:buNone/>
            </a:pPr>
            <a:r>
              <a:rPr lang="en-US" sz="2800" b="1" dirty="0">
                <a:solidFill>
                  <a:schemeClr val="accent5"/>
                </a:solidFill>
              </a:rPr>
              <a:t>›</a:t>
            </a:r>
            <a:endParaRPr lang="en-US" sz="2800" dirty="0"/>
          </a:p>
        </p:txBody>
      </p:sp>
      <p:sp>
        <p:nvSpPr>
          <p:cNvPr id="8" name="State"/>
          <p:cNvSpPr/>
          <p:nvPr/>
        </p:nvSpPr>
        <p:spPr>
          <a:xfrm>
            <a:off x="2606040" y="1737360"/>
            <a:ext cx="1783080" cy="914400"/>
          </a:xfrm>
          <a:prstGeom prst="roundRect">
            <a:avLst>
              <a:gd name="adj" fmla="val 12000"/>
            </a:avLst>
          </a:prstGeom>
          <a:solidFill>
            <a:schemeClr val="tx1"/>
          </a:solidFill>
          <a:ln/>
        </p:spPr>
      </p:sp>
      <p:sp>
        <p:nvSpPr>
          <p:cNvPr id="9" name="Text 7"/>
          <p:cNvSpPr txBox="1"/>
          <p:nvPr/>
        </p:nvSpPr>
        <p:spPr>
          <a:xfrm>
            <a:off x="2606040" y="1783080"/>
            <a:ext cx="178308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Waiting</a:t>
            </a:r>
            <a:endParaRPr lang="en-US" sz="1800" dirty="0"/>
          </a:p>
        </p:txBody>
      </p:sp>
      <p:sp>
        <p:nvSpPr>
          <p:cNvPr id="10" name="Text 8"/>
          <p:cNvSpPr txBox="1"/>
          <p:nvPr/>
        </p:nvSpPr>
        <p:spPr>
          <a:xfrm>
            <a:off x="2606040" y="2194560"/>
            <a:ext cx="1783080" cy="365760"/>
          </a:xfrm>
          <a:prstGeom prst="rect">
            <a:avLst/>
          </a:prstGeom>
          <a:noFill/>
          <a:ln/>
        </p:spPr>
        <p:txBody>
          <a:bodyPr wrap="square" lIns="0" tIns="0" rIns="0" bIns="0" rtlCol="0" anchor="t"/>
          <a:lstStyle/>
          <a:p>
            <a:pPr algn="ctr" indent="0" marL="0">
              <a:buNone/>
            </a:pPr>
            <a:r>
              <a:rPr lang="en-US" sz="1200" dirty="0">
                <a:solidFill>
                  <a:schemeClr val="accent6"/>
                </a:solidFill>
              </a:rPr>
              <a:t>Queued for an agent</a:t>
            </a:r>
            <a:endParaRPr lang="en-US" sz="1200" dirty="0"/>
          </a:p>
        </p:txBody>
      </p:sp>
      <p:sp>
        <p:nvSpPr>
          <p:cNvPr id="11" name="Text 9"/>
          <p:cNvSpPr txBox="1"/>
          <p:nvPr/>
        </p:nvSpPr>
        <p:spPr>
          <a:xfrm>
            <a:off x="4389120" y="1874520"/>
            <a:ext cx="274320" cy="640080"/>
          </a:xfrm>
          <a:prstGeom prst="rect">
            <a:avLst/>
          </a:prstGeom>
          <a:noFill/>
          <a:ln/>
        </p:spPr>
        <p:txBody>
          <a:bodyPr wrap="square" lIns="0" tIns="0" rIns="0" bIns="0" rtlCol="0" anchor="ctr"/>
          <a:lstStyle/>
          <a:p>
            <a:pPr algn="ctr" indent="0" marL="0">
              <a:buNone/>
            </a:pPr>
            <a:r>
              <a:rPr lang="en-US" sz="2800" b="1" dirty="0">
                <a:solidFill>
                  <a:schemeClr val="accent5"/>
                </a:solidFill>
              </a:rPr>
              <a:t>›</a:t>
            </a:r>
            <a:endParaRPr lang="en-US" sz="2800" dirty="0"/>
          </a:p>
        </p:txBody>
      </p:sp>
      <p:sp>
        <p:nvSpPr>
          <p:cNvPr id="12" name="State"/>
          <p:cNvSpPr/>
          <p:nvPr/>
        </p:nvSpPr>
        <p:spPr>
          <a:xfrm>
            <a:off x="4663440" y="1737360"/>
            <a:ext cx="1783080" cy="914400"/>
          </a:xfrm>
          <a:prstGeom prst="roundRect">
            <a:avLst>
              <a:gd name="adj" fmla="val 12000"/>
            </a:avLst>
          </a:prstGeom>
          <a:solidFill>
            <a:schemeClr val="accent1"/>
          </a:solidFill>
          <a:ln/>
        </p:spPr>
      </p:sp>
      <p:sp>
        <p:nvSpPr>
          <p:cNvPr id="13" name="Text 11"/>
          <p:cNvSpPr txBox="1"/>
          <p:nvPr/>
        </p:nvSpPr>
        <p:spPr>
          <a:xfrm>
            <a:off x="4663440" y="1783080"/>
            <a:ext cx="178308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With human</a:t>
            </a:r>
            <a:endParaRPr lang="en-US" sz="1800" dirty="0"/>
          </a:p>
        </p:txBody>
      </p:sp>
      <p:sp>
        <p:nvSpPr>
          <p:cNvPr id="14" name="Text 12"/>
          <p:cNvSpPr txBox="1"/>
          <p:nvPr/>
        </p:nvSpPr>
        <p:spPr>
          <a:xfrm>
            <a:off x="4663440" y="2194560"/>
            <a:ext cx="1783080" cy="365760"/>
          </a:xfrm>
          <a:prstGeom prst="rect">
            <a:avLst/>
          </a:prstGeom>
          <a:noFill/>
          <a:ln/>
        </p:spPr>
        <p:txBody>
          <a:bodyPr wrap="square" lIns="0" tIns="0" rIns="0" bIns="0" rtlCol="0" anchor="t"/>
          <a:lstStyle/>
          <a:p>
            <a:pPr algn="ctr" indent="0" marL="0">
              <a:buNone/>
            </a:pPr>
            <a:r>
              <a:rPr lang="en-US" sz="1200" dirty="0">
                <a:solidFill>
                  <a:schemeClr val="tx2"/>
                </a:solidFill>
              </a:rPr>
              <a:t>Agent replies live</a:t>
            </a:r>
            <a:endParaRPr lang="en-US" sz="1200" dirty="0"/>
          </a:p>
        </p:txBody>
      </p:sp>
      <p:sp>
        <p:nvSpPr>
          <p:cNvPr id="15" name="Text 13"/>
          <p:cNvSpPr txBox="1"/>
          <p:nvPr/>
        </p:nvSpPr>
        <p:spPr>
          <a:xfrm>
            <a:off x="6446520" y="1874520"/>
            <a:ext cx="274320" cy="640080"/>
          </a:xfrm>
          <a:prstGeom prst="rect">
            <a:avLst/>
          </a:prstGeom>
          <a:noFill/>
          <a:ln/>
        </p:spPr>
        <p:txBody>
          <a:bodyPr wrap="square" lIns="0" tIns="0" rIns="0" bIns="0" rtlCol="0" anchor="ctr"/>
          <a:lstStyle/>
          <a:p>
            <a:pPr algn="ctr" indent="0" marL="0">
              <a:buNone/>
            </a:pPr>
            <a:r>
              <a:rPr lang="en-US" sz="2800" b="1" dirty="0">
                <a:solidFill>
                  <a:schemeClr val="accent5"/>
                </a:solidFill>
              </a:rPr>
              <a:t>›</a:t>
            </a:r>
            <a:endParaRPr lang="en-US" sz="2800" dirty="0"/>
          </a:p>
        </p:txBody>
      </p:sp>
      <p:sp>
        <p:nvSpPr>
          <p:cNvPr id="16" name="State"/>
          <p:cNvSpPr/>
          <p:nvPr/>
        </p:nvSpPr>
        <p:spPr>
          <a:xfrm>
            <a:off x="6720840" y="1737360"/>
            <a:ext cx="1783080" cy="914400"/>
          </a:xfrm>
          <a:prstGeom prst="roundRect">
            <a:avLst>
              <a:gd name="adj" fmla="val 12000"/>
            </a:avLst>
          </a:prstGeom>
          <a:solidFill>
            <a:schemeClr val="tx1"/>
          </a:solidFill>
          <a:ln/>
        </p:spPr>
      </p:sp>
      <p:sp>
        <p:nvSpPr>
          <p:cNvPr id="17" name="Text 15"/>
          <p:cNvSpPr txBox="1"/>
          <p:nvPr/>
        </p:nvSpPr>
        <p:spPr>
          <a:xfrm>
            <a:off x="6720840" y="1783080"/>
            <a:ext cx="178308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Resolved</a:t>
            </a:r>
            <a:endParaRPr lang="en-US" sz="1800" dirty="0"/>
          </a:p>
        </p:txBody>
      </p:sp>
      <p:sp>
        <p:nvSpPr>
          <p:cNvPr id="18" name="Text 16"/>
          <p:cNvSpPr txBox="1"/>
          <p:nvPr/>
        </p:nvSpPr>
        <p:spPr>
          <a:xfrm>
            <a:off x="6720840" y="2194560"/>
            <a:ext cx="1783080" cy="365760"/>
          </a:xfrm>
          <a:prstGeom prst="rect">
            <a:avLst/>
          </a:prstGeom>
          <a:noFill/>
          <a:ln/>
        </p:spPr>
        <p:txBody>
          <a:bodyPr wrap="square" lIns="0" tIns="0" rIns="0" bIns="0" rtlCol="0" anchor="t"/>
          <a:lstStyle/>
          <a:p>
            <a:pPr algn="ctr" indent="0" marL="0">
              <a:buNone/>
            </a:pPr>
            <a:r>
              <a:rPr lang="en-US" sz="1200" dirty="0">
                <a:solidFill>
                  <a:schemeClr val="accent6"/>
                </a:solidFill>
              </a:rPr>
              <a:t>Closed, or back to bot</a:t>
            </a:r>
            <a:endParaRPr lang="en-US" sz="1200" dirty="0"/>
          </a:p>
        </p:txBody>
      </p:sp>
      <p:sp>
        <p:nvSpPr>
          <p:cNvPr id="19" name="Card"/>
          <p:cNvSpPr/>
          <p:nvPr/>
        </p:nvSpPr>
        <p:spPr>
          <a:xfrm>
            <a:off x="548640" y="3108960"/>
            <a:ext cx="2560320" cy="1371600"/>
          </a:xfrm>
          <a:prstGeom prst="rect">
            <a:avLst/>
          </a:prstGeom>
          <a:solidFill>
            <a:schemeClr val="bg2"/>
          </a:solidFill>
          <a:ln/>
        </p:spPr>
      </p:sp>
      <p:sp>
        <p:nvSpPr>
          <p:cNvPr id="20" name="Text 18"/>
          <p:cNvSpPr txBox="1"/>
          <p:nvPr/>
        </p:nvSpPr>
        <p:spPr>
          <a:xfrm>
            <a:off x="777240" y="3246120"/>
            <a:ext cx="2194560" cy="36576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Customer asks</a:t>
            </a:r>
            <a:endParaRPr lang="en-US" sz="1700" dirty="0"/>
          </a:p>
        </p:txBody>
      </p:sp>
      <p:sp>
        <p:nvSpPr>
          <p:cNvPr id="21" name="Text 19"/>
          <p:cNvSpPr txBox="1"/>
          <p:nvPr/>
        </p:nvSpPr>
        <p:spPr>
          <a:xfrm>
            <a:off x="777240" y="3657600"/>
            <a:ext cx="2194560" cy="731520"/>
          </a:xfrm>
          <a:prstGeom prst="rect">
            <a:avLst/>
          </a:prstGeom>
          <a:noFill/>
          <a:ln/>
        </p:spPr>
        <p:txBody>
          <a:bodyPr wrap="square" lIns="0" tIns="0" rIns="0" bIns="0" rtlCol="0" anchor="t"/>
          <a:lstStyle/>
          <a:p>
            <a:pPr indent="0" marL="0">
              <a:buNone/>
            </a:pPr>
            <a:r>
              <a:rPr lang="en-US" sz="1400" dirty="0">
                <a:solidFill>
                  <a:schemeClr val="accent5"/>
                </a:solidFill>
              </a:rPr>
              <a:t>“Talk to a human” button or phrase</a:t>
            </a:r>
            <a:endParaRPr lang="en-US" sz="1400" dirty="0"/>
          </a:p>
        </p:txBody>
      </p:sp>
      <p:sp>
        <p:nvSpPr>
          <p:cNvPr id="22" name="Card"/>
          <p:cNvSpPr/>
          <p:nvPr/>
        </p:nvSpPr>
        <p:spPr>
          <a:xfrm>
            <a:off x="3291840" y="3108960"/>
            <a:ext cx="2560320" cy="1371600"/>
          </a:xfrm>
          <a:prstGeom prst="rect">
            <a:avLst/>
          </a:prstGeom>
          <a:solidFill>
            <a:schemeClr val="bg2"/>
          </a:solidFill>
          <a:ln/>
        </p:spPr>
      </p:sp>
      <p:sp>
        <p:nvSpPr>
          <p:cNvPr id="23" name="Text 21"/>
          <p:cNvSpPr txBox="1"/>
          <p:nvPr/>
        </p:nvSpPr>
        <p:spPr>
          <a:xfrm>
            <a:off x="3520440" y="3246120"/>
            <a:ext cx="2194560" cy="36576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AI decides</a:t>
            </a:r>
            <a:endParaRPr lang="en-US" sz="1700" dirty="0"/>
          </a:p>
        </p:txBody>
      </p:sp>
      <p:sp>
        <p:nvSpPr>
          <p:cNvPr id="24" name="Text 22"/>
          <p:cNvSpPr txBox="1"/>
          <p:nvPr/>
        </p:nvSpPr>
        <p:spPr>
          <a:xfrm>
            <a:off x="3520440" y="3657600"/>
            <a:ext cx="2194560" cy="731520"/>
          </a:xfrm>
          <a:prstGeom prst="rect">
            <a:avLst/>
          </a:prstGeom>
          <a:noFill/>
          <a:ln/>
        </p:spPr>
        <p:txBody>
          <a:bodyPr wrap="square" lIns="0" tIns="0" rIns="0" bIns="0" rtlCol="0" anchor="t"/>
          <a:lstStyle/>
          <a:p>
            <a:pPr indent="0" marL="0">
              <a:buNone/>
            </a:pPr>
            <a:r>
              <a:rPr lang="en-US" sz="1400" dirty="0">
                <a:solidFill>
                  <a:schemeClr val="accent5"/>
                </a:solidFill>
              </a:rPr>
              <a:t>Sensitive or unresolved issue</a:t>
            </a:r>
            <a:endParaRPr lang="en-US" sz="1400" dirty="0"/>
          </a:p>
        </p:txBody>
      </p:sp>
      <p:sp>
        <p:nvSpPr>
          <p:cNvPr id="25" name="Card"/>
          <p:cNvSpPr/>
          <p:nvPr/>
        </p:nvSpPr>
        <p:spPr>
          <a:xfrm>
            <a:off x="6035040" y="3108960"/>
            <a:ext cx="2560320" cy="1371600"/>
          </a:xfrm>
          <a:prstGeom prst="rect">
            <a:avLst/>
          </a:prstGeom>
          <a:solidFill>
            <a:schemeClr val="bg2"/>
          </a:solidFill>
          <a:ln/>
        </p:spPr>
      </p:sp>
      <p:sp>
        <p:nvSpPr>
          <p:cNvPr id="26" name="Text 24"/>
          <p:cNvSpPr txBox="1"/>
          <p:nvPr/>
        </p:nvSpPr>
        <p:spPr>
          <a:xfrm>
            <a:off x="6263640" y="3246120"/>
            <a:ext cx="2194560" cy="36576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Automatic</a:t>
            </a:r>
            <a:endParaRPr lang="en-US" sz="1700" dirty="0"/>
          </a:p>
        </p:txBody>
      </p:sp>
      <p:sp>
        <p:nvSpPr>
          <p:cNvPr id="27" name="Text 25"/>
          <p:cNvSpPr txBox="1"/>
          <p:nvPr/>
        </p:nvSpPr>
        <p:spPr>
          <a:xfrm>
            <a:off x="6263640" y="3657600"/>
            <a:ext cx="2194560" cy="731520"/>
          </a:xfrm>
          <a:prstGeom prst="rect">
            <a:avLst/>
          </a:prstGeom>
          <a:noFill/>
          <a:ln/>
        </p:spPr>
        <p:txBody>
          <a:bodyPr wrap="square" lIns="0" tIns="0" rIns="0" bIns="0" rtlCol="0" anchor="t"/>
          <a:lstStyle/>
          <a:p>
            <a:pPr indent="0" marL="0">
              <a:buNone/>
            </a:pPr>
            <a:r>
              <a:rPr lang="en-US" sz="1400" dirty="0">
                <a:solidFill>
                  <a:schemeClr val="accent5"/>
                </a:solidFill>
              </a:rPr>
              <a:t>Repeated misses, or a model outage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chemeClr val="bg1"/>
        </a:solidFill>
      </p:bgPr>
    </p:bg>
    <p:spTree>
      <p:nvGrpSpPr>
        <p:cNvPr id="1" name=""/>
        <p:cNvGrpSpPr/>
        <p:nvPr/>
      </p:nvGrpSpPr>
      <p:grpSpPr>
        <a:xfrm>
          <a:off x="0" y="0"/>
          <a:ext cx="0" cy="0"/>
          <a:chOff x="0" y="0"/>
          <a:chExt cx="0" cy="0"/>
        </a:xfrm>
      </p:grpSpPr>
      <p:sp>
        <p:nvSpPr>
          <p:cNvPr id="2" name="Kicker"/>
          <p:cNvSpPr txBox="1"/>
          <p:nvPr/>
        </p:nvSpPr>
        <p:spPr>
          <a:xfrm>
            <a:off x="548640" y="365760"/>
            <a:ext cx="804672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WHO IT IS FOR</a:t>
            </a:r>
            <a:endParaRPr lang="en-US" sz="1200" dirty="0"/>
          </a:p>
        </p:txBody>
      </p:sp>
      <p:sp>
        <p:nvSpPr>
          <p:cNvPr id="3" name="Title"/>
          <p:cNvSpPr txBox="1"/>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Built for businesses where support volume is a cost centre</a:t>
            </a:r>
            <a:endParaRPr lang="en-US" sz="3000" dirty="0"/>
          </a:p>
        </p:txBody>
      </p:sp>
      <p:sp>
        <p:nvSpPr>
          <p:cNvPr id="4" name="Card"/>
          <p:cNvSpPr/>
          <p:nvPr/>
        </p:nvSpPr>
        <p:spPr>
          <a:xfrm>
            <a:off x="548640" y="1691640"/>
            <a:ext cx="4206240" cy="822960"/>
          </a:xfrm>
          <a:prstGeom prst="rect">
            <a:avLst/>
          </a:prstGeom>
          <a:solidFill>
            <a:schemeClr val="bg2"/>
          </a:solidFill>
          <a:ln/>
        </p:spPr>
      </p:sp>
      <p:sp>
        <p:nvSpPr>
          <p:cNvPr id="5" name="Text 3"/>
          <p:cNvSpPr txBox="1"/>
          <p:nvPr/>
        </p:nvSpPr>
        <p:spPr>
          <a:xfrm>
            <a:off x="777240" y="1783080"/>
            <a:ext cx="3749040" cy="3200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E-commerce &amp; retail</a:t>
            </a:r>
            <a:endParaRPr lang="en-US" sz="1700" dirty="0"/>
          </a:p>
        </p:txBody>
      </p:sp>
      <p:sp>
        <p:nvSpPr>
          <p:cNvPr id="6" name="Text 4"/>
          <p:cNvSpPr txBox="1"/>
          <p:nvPr/>
        </p:nvSpPr>
        <p:spPr>
          <a:xfrm>
            <a:off x="777240" y="2130552"/>
            <a:ext cx="3749040" cy="320040"/>
          </a:xfrm>
          <a:prstGeom prst="rect">
            <a:avLst/>
          </a:prstGeom>
          <a:noFill/>
          <a:ln/>
        </p:spPr>
        <p:txBody>
          <a:bodyPr wrap="square" lIns="0" tIns="0" rIns="0" bIns="0" rtlCol="0" anchor="ctr"/>
          <a:lstStyle/>
          <a:p>
            <a:pPr indent="0" marL="0">
              <a:buNone/>
            </a:pPr>
            <a:r>
              <a:rPr lang="en-US" sz="1400" dirty="0">
                <a:solidFill>
                  <a:schemeClr val="accent5"/>
                </a:solidFill>
              </a:rPr>
              <a:t>Order status, returns, delivery questions</a:t>
            </a:r>
            <a:endParaRPr lang="en-US" sz="1400" dirty="0"/>
          </a:p>
        </p:txBody>
      </p:sp>
      <p:sp>
        <p:nvSpPr>
          <p:cNvPr id="7" name="Card"/>
          <p:cNvSpPr/>
          <p:nvPr/>
        </p:nvSpPr>
        <p:spPr>
          <a:xfrm>
            <a:off x="548640" y="2651760"/>
            <a:ext cx="4206240" cy="822960"/>
          </a:xfrm>
          <a:prstGeom prst="rect">
            <a:avLst/>
          </a:prstGeom>
          <a:solidFill>
            <a:schemeClr val="bg2"/>
          </a:solidFill>
          <a:ln/>
        </p:spPr>
      </p:sp>
      <p:sp>
        <p:nvSpPr>
          <p:cNvPr id="8" name="Text 6"/>
          <p:cNvSpPr txBox="1"/>
          <p:nvPr/>
        </p:nvSpPr>
        <p:spPr>
          <a:xfrm>
            <a:off x="777240" y="2743200"/>
            <a:ext cx="3749040" cy="3200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Subscription &amp; SaaS</a:t>
            </a:r>
            <a:endParaRPr lang="en-US" sz="1700" dirty="0"/>
          </a:p>
        </p:txBody>
      </p:sp>
      <p:sp>
        <p:nvSpPr>
          <p:cNvPr id="9" name="Text 7"/>
          <p:cNvSpPr txBox="1"/>
          <p:nvPr/>
        </p:nvSpPr>
        <p:spPr>
          <a:xfrm>
            <a:off x="777240" y="3090672"/>
            <a:ext cx="3749040" cy="320040"/>
          </a:xfrm>
          <a:prstGeom prst="rect">
            <a:avLst/>
          </a:prstGeom>
          <a:noFill/>
          <a:ln/>
        </p:spPr>
        <p:txBody>
          <a:bodyPr wrap="square" lIns="0" tIns="0" rIns="0" bIns="0" rtlCol="0" anchor="ctr"/>
          <a:lstStyle/>
          <a:p>
            <a:pPr indent="0" marL="0">
              <a:buNone/>
            </a:pPr>
            <a:r>
              <a:rPr lang="en-US" sz="1400" dirty="0">
                <a:solidFill>
                  <a:schemeClr val="accent5"/>
                </a:solidFill>
              </a:rPr>
              <a:t>Policy, billing, how-to questions</a:t>
            </a:r>
            <a:endParaRPr lang="en-US" sz="1400" dirty="0"/>
          </a:p>
        </p:txBody>
      </p:sp>
      <p:sp>
        <p:nvSpPr>
          <p:cNvPr id="10" name="Card"/>
          <p:cNvSpPr/>
          <p:nvPr/>
        </p:nvSpPr>
        <p:spPr>
          <a:xfrm>
            <a:off x="548640" y="3611880"/>
            <a:ext cx="4206240" cy="822960"/>
          </a:xfrm>
          <a:prstGeom prst="rect">
            <a:avLst/>
          </a:prstGeom>
          <a:solidFill>
            <a:schemeClr val="bg2"/>
          </a:solidFill>
          <a:ln/>
        </p:spPr>
      </p:sp>
      <p:sp>
        <p:nvSpPr>
          <p:cNvPr id="11" name="Text 9"/>
          <p:cNvSpPr txBox="1"/>
          <p:nvPr/>
        </p:nvSpPr>
        <p:spPr>
          <a:xfrm>
            <a:off x="777240" y="3703320"/>
            <a:ext cx="3749040" cy="3200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Service businesses</a:t>
            </a:r>
            <a:endParaRPr lang="en-US" sz="1700" dirty="0"/>
          </a:p>
        </p:txBody>
      </p:sp>
      <p:sp>
        <p:nvSpPr>
          <p:cNvPr id="12" name="Text 10"/>
          <p:cNvSpPr txBox="1"/>
          <p:nvPr/>
        </p:nvSpPr>
        <p:spPr>
          <a:xfrm>
            <a:off x="777240" y="4050792"/>
            <a:ext cx="3749040" cy="320040"/>
          </a:xfrm>
          <a:prstGeom prst="rect">
            <a:avLst/>
          </a:prstGeom>
          <a:noFill/>
          <a:ln/>
        </p:spPr>
        <p:txBody>
          <a:bodyPr wrap="square" lIns="0" tIns="0" rIns="0" bIns="0" rtlCol="0" anchor="ctr"/>
          <a:lstStyle/>
          <a:p>
            <a:pPr indent="0" marL="0">
              <a:buNone/>
            </a:pPr>
            <a:r>
              <a:rPr lang="en-US" sz="1400" dirty="0">
                <a:solidFill>
                  <a:schemeClr val="accent5"/>
                </a:solidFill>
              </a:rPr>
              <a:t>Hours, bookings, pricing, FAQs</a:t>
            </a:r>
            <a:endParaRPr lang="en-US" sz="1400" dirty="0"/>
          </a:p>
        </p:txBody>
      </p:sp>
      <p:sp>
        <p:nvSpPr>
          <p:cNvPr id="13" name="Outcomes"/>
          <p:cNvSpPr/>
          <p:nvPr/>
        </p:nvSpPr>
        <p:spPr>
          <a:xfrm>
            <a:off x="5120640" y="1691640"/>
            <a:ext cx="3474720" cy="2788920"/>
          </a:xfrm>
          <a:prstGeom prst="rect">
            <a:avLst/>
          </a:prstGeom>
          <a:solidFill>
            <a:schemeClr val="tx1"/>
          </a:solidFill>
          <a:ln/>
        </p:spPr>
      </p:sp>
      <p:sp>
        <p:nvSpPr>
          <p:cNvPr id="14" name="Text 12"/>
          <p:cNvSpPr txBox="1"/>
          <p:nvPr/>
        </p:nvSpPr>
        <p:spPr>
          <a:xfrm>
            <a:off x="5394960" y="1828800"/>
            <a:ext cx="292608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What you gain</a:t>
            </a:r>
            <a:endParaRPr lang="en-US" sz="1800" dirty="0"/>
          </a:p>
        </p:txBody>
      </p:sp>
      <p:sp>
        <p:nvSpPr>
          <p:cNvPr id="15" name="Text 13"/>
          <p:cNvSpPr txBox="1"/>
          <p:nvPr/>
        </p:nvSpPr>
        <p:spPr>
          <a:xfrm>
            <a:off x="5394960" y="2286000"/>
            <a:ext cx="301752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Fewer repetitive tickets</a:t>
            </a:r>
            <a:endParaRPr lang="en-US" sz="1400" dirty="0"/>
          </a:p>
          <a:p>
            <a:pPr marL="342900" indent="-342900">
              <a:spcAft>
                <a:spcPts val="800"/>
              </a:spcAft>
              <a:buSzPct val="100000"/>
              <a:buChar char="•"/>
            </a:pPr>
            <a:r>
              <a:rPr lang="en-US" sz="1400" dirty="0">
                <a:solidFill>
                  <a:schemeClr val="bg1"/>
                </a:solidFill>
              </a:rPr>
              <a:t>Faster answers, around the clock</a:t>
            </a:r>
            <a:endParaRPr lang="en-US" sz="1400" dirty="0"/>
          </a:p>
          <a:p>
            <a:pPr marL="342900" indent="-342900">
              <a:spcAft>
                <a:spcPts val="800"/>
              </a:spcAft>
              <a:buSzPct val="100000"/>
              <a:buChar char="•"/>
            </a:pPr>
            <a:r>
              <a:rPr lang="en-US" sz="1400" dirty="0">
                <a:solidFill>
                  <a:schemeClr val="bg1"/>
                </a:solidFill>
              </a:rPr>
              <a:t>Agents focus on hard cases</a:t>
            </a:r>
            <a:endParaRPr lang="en-US" sz="1400" dirty="0"/>
          </a:p>
          <a:p>
            <a:pPr marL="342900" indent="-342900">
              <a:spcAft>
                <a:spcPts val="800"/>
              </a:spcAft>
              <a:buSzPct val="100000"/>
              <a:buChar char="•"/>
            </a:pPr>
            <a:r>
              <a:rPr lang="en-US" sz="1400" dirty="0">
                <a:solidFill>
                  <a:schemeClr val="bg1"/>
                </a:solidFill>
              </a:rPr>
              <a:t>Your choice of AI provider</a:t>
            </a:r>
            <a:endParaRPr lang="en-US" sz="1400" dirty="0"/>
          </a:p>
          <a:p>
            <a:pPr marL="342900" indent="-342900">
              <a:spcAft>
                <a:spcPts val="800"/>
              </a:spcAft>
              <a:buSzPct val="100000"/>
              <a:buChar char="•"/>
            </a:pPr>
            <a:r>
              <a:rPr lang="en-US" sz="1400" dirty="0">
                <a:solidFill>
                  <a:schemeClr val="bg1"/>
                </a:solidFill>
              </a:rPr>
              <a:t>Designed for ~30,000 conversations a day</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chemeClr val="tx2"/>
        </a:solidFill>
      </p:bgPr>
    </p:bg>
    <p:spTree>
      <p:nvGrpSpPr>
        <p:cNvPr id="1" name=""/>
        <p:cNvGrpSpPr/>
        <p:nvPr/>
      </p:nvGrpSpPr>
      <p:grpSpPr>
        <a:xfrm>
          <a:off x="0" y="0"/>
          <a:ext cx="0" cy="0"/>
          <a:chOff x="0" y="0"/>
          <a:chExt cx="0" cy="0"/>
        </a:xfrm>
      </p:grpSpPr>
      <p:sp>
        <p:nvSpPr>
          <p:cNvPr id="2" name="Orb"/>
          <p:cNvSpPr/>
          <p:nvPr/>
        </p:nvSpPr>
        <p:spPr>
          <a:xfrm>
            <a:off x="6217920" y="2560320"/>
            <a:ext cx="4572000" cy="4572000"/>
          </a:xfrm>
          <a:prstGeom prst="ellipse">
            <a:avLst/>
          </a:prstGeom>
          <a:solidFill>
            <a:schemeClr val="tx1"/>
          </a:solidFill>
          <a:ln/>
        </p:spPr>
      </p:sp>
      <p:sp>
        <p:nvSpPr>
          <p:cNvPr id="3" name="Text 1"/>
          <p:cNvSpPr txBox="1"/>
          <p:nvPr/>
        </p:nvSpPr>
        <p:spPr>
          <a:xfrm>
            <a:off x="548640" y="822960"/>
            <a:ext cx="54864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NEXT STEP</a:t>
            </a:r>
            <a:endParaRPr lang="en-US" sz="1200" dirty="0"/>
          </a:p>
        </p:txBody>
      </p:sp>
      <p:sp>
        <p:nvSpPr>
          <p:cNvPr id="4" name="Text 2"/>
          <p:cNvSpPr txBox="1"/>
          <p:nvPr/>
        </p:nvSpPr>
        <p:spPr>
          <a:xfrm>
            <a:off x="548640" y="1188720"/>
            <a:ext cx="6583680" cy="118872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Start with a pilot on your own documents</a:t>
            </a:r>
            <a:endParaRPr lang="en-US" sz="3400" dirty="0"/>
          </a:p>
        </p:txBody>
      </p:sp>
      <p:sp>
        <p:nvSpPr>
          <p:cNvPr id="5" name="Badge"/>
          <p:cNvSpPr/>
          <p:nvPr/>
        </p:nvSpPr>
        <p:spPr>
          <a:xfrm>
            <a:off x="548640" y="2697480"/>
            <a:ext cx="384048" cy="384048"/>
          </a:xfrm>
          <a:prstGeom prst="ellipse">
            <a:avLst/>
          </a:prstGeom>
          <a:solidFill>
            <a:schemeClr val="accent1"/>
          </a:solidFill>
          <a:ln/>
        </p:spPr>
      </p:sp>
      <p:sp>
        <p:nvSpPr>
          <p:cNvPr id="6" name="Text 4"/>
          <p:cNvSpPr txBox="1"/>
          <p:nvPr/>
        </p:nvSpPr>
        <p:spPr>
          <a:xfrm>
            <a:off x="548640" y="2697480"/>
            <a:ext cx="384048" cy="384048"/>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7" name="Text 5"/>
          <p:cNvSpPr txBox="1"/>
          <p:nvPr/>
        </p:nvSpPr>
        <p:spPr>
          <a:xfrm>
            <a:off x="1143000" y="2697480"/>
            <a:ext cx="5669280" cy="384048"/>
          </a:xfrm>
          <a:prstGeom prst="rect">
            <a:avLst/>
          </a:prstGeom>
          <a:noFill/>
          <a:ln/>
        </p:spPr>
        <p:txBody>
          <a:bodyPr wrap="square" lIns="0" tIns="0" rIns="0" bIns="0" rtlCol="0" anchor="ctr"/>
          <a:lstStyle/>
          <a:p>
            <a:pPr indent="0" marL="0">
              <a:buNone/>
            </a:pPr>
            <a:r>
              <a:rPr lang="en-US" sz="1600" dirty="0">
                <a:solidFill>
                  <a:schemeClr val="bg1"/>
                </a:solidFill>
              </a:rPr>
              <a:t>Week 1 — load your FAQs and policies; try it in a sandbox</a:t>
            </a:r>
            <a:endParaRPr lang="en-US" sz="1600" dirty="0"/>
          </a:p>
        </p:txBody>
      </p:sp>
      <p:sp>
        <p:nvSpPr>
          <p:cNvPr id="8" name="Badge"/>
          <p:cNvSpPr/>
          <p:nvPr/>
        </p:nvSpPr>
        <p:spPr>
          <a:xfrm>
            <a:off x="548640" y="3337560"/>
            <a:ext cx="384048" cy="384048"/>
          </a:xfrm>
          <a:prstGeom prst="ellipse">
            <a:avLst/>
          </a:prstGeom>
          <a:solidFill>
            <a:schemeClr val="accent1"/>
          </a:solidFill>
          <a:ln/>
        </p:spPr>
      </p:sp>
      <p:sp>
        <p:nvSpPr>
          <p:cNvPr id="9" name="Text 7"/>
          <p:cNvSpPr txBox="1"/>
          <p:nvPr/>
        </p:nvSpPr>
        <p:spPr>
          <a:xfrm>
            <a:off x="548640" y="3337560"/>
            <a:ext cx="384048" cy="384048"/>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0" name="Text 8"/>
          <p:cNvSpPr txBox="1"/>
          <p:nvPr/>
        </p:nvSpPr>
        <p:spPr>
          <a:xfrm>
            <a:off x="1143000" y="3337560"/>
            <a:ext cx="5669280" cy="384048"/>
          </a:xfrm>
          <a:prstGeom prst="rect">
            <a:avLst/>
          </a:prstGeom>
          <a:noFill/>
          <a:ln/>
        </p:spPr>
        <p:txBody>
          <a:bodyPr wrap="square" lIns="0" tIns="0" rIns="0" bIns="0" rtlCol="0" anchor="ctr"/>
          <a:lstStyle/>
          <a:p>
            <a:pPr indent="0" marL="0">
              <a:buNone/>
            </a:pPr>
            <a:r>
              <a:rPr lang="en-US" sz="1600" dirty="0">
                <a:solidFill>
                  <a:schemeClr val="bg1"/>
                </a:solidFill>
              </a:rPr>
              <a:t>Week 2 — connect orders and Jira; invite your agents</a:t>
            </a:r>
            <a:endParaRPr lang="en-US" sz="1600" dirty="0"/>
          </a:p>
        </p:txBody>
      </p:sp>
      <p:sp>
        <p:nvSpPr>
          <p:cNvPr id="11" name="Badge"/>
          <p:cNvSpPr/>
          <p:nvPr/>
        </p:nvSpPr>
        <p:spPr>
          <a:xfrm>
            <a:off x="548640" y="3977640"/>
            <a:ext cx="384048" cy="384048"/>
          </a:xfrm>
          <a:prstGeom prst="ellipse">
            <a:avLst/>
          </a:prstGeom>
          <a:solidFill>
            <a:schemeClr val="accent1"/>
          </a:solidFill>
          <a:ln/>
        </p:spPr>
      </p:sp>
      <p:sp>
        <p:nvSpPr>
          <p:cNvPr id="12" name="Text 10"/>
          <p:cNvSpPr txBox="1"/>
          <p:nvPr/>
        </p:nvSpPr>
        <p:spPr>
          <a:xfrm>
            <a:off x="548640" y="3977640"/>
            <a:ext cx="384048" cy="384048"/>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3" name="Text 11"/>
          <p:cNvSpPr txBox="1"/>
          <p:nvPr/>
        </p:nvSpPr>
        <p:spPr>
          <a:xfrm>
            <a:off x="1143000" y="3977640"/>
            <a:ext cx="5669280" cy="384048"/>
          </a:xfrm>
          <a:prstGeom prst="rect">
            <a:avLst/>
          </a:prstGeom>
          <a:noFill/>
          <a:ln/>
        </p:spPr>
        <p:txBody>
          <a:bodyPr wrap="square" lIns="0" tIns="0" rIns="0" bIns="0" rtlCol="0" anchor="ctr"/>
          <a:lstStyle/>
          <a:p>
            <a:pPr indent="0" marL="0">
              <a:buNone/>
            </a:pPr>
            <a:r>
              <a:rPr lang="en-US" sz="1600" dirty="0">
                <a:solidFill>
                  <a:schemeClr val="bg1"/>
                </a:solidFill>
              </a:rPr>
              <a:t>Week 3 — go live on a slice of traffic and review results</a:t>
            </a:r>
            <a:endParaRPr lang="en-US" sz="1600" dirty="0"/>
          </a:p>
        </p:txBody>
      </p:sp>
      <p:sp>
        <p:nvSpPr>
          <p:cNvPr id="14" name="Text 12"/>
          <p:cNvSpPr txBox="1"/>
          <p:nvPr/>
        </p:nvSpPr>
        <p:spPr>
          <a:xfrm>
            <a:off x="548640" y="4572000"/>
            <a:ext cx="6858000" cy="365760"/>
          </a:xfrm>
          <a:prstGeom prst="rect">
            <a:avLst/>
          </a:prstGeom>
          <a:noFill/>
          <a:ln/>
        </p:spPr>
        <p:txBody>
          <a:bodyPr wrap="square" lIns="0" tIns="0" rIns="0" bIns="0" rtlCol="0" anchor="ctr"/>
          <a:lstStyle/>
          <a:p>
            <a:pPr indent="0" marL="0">
              <a:buNone/>
            </a:pPr>
            <a:r>
              <a:rPr lang="en-US" sz="1200" i="1" dirty="0">
                <a:solidFill>
                  <a:schemeClr val="accent6"/>
                </a:solidFill>
              </a:rPr>
              <a:t>Production go-live is gated by the built-in readiness evaluation (security, accuracy, resilience, load).</a:t>
            </a:r>
            <a:endParaRPr lang="en-US" sz="1200" dirty="0"/>
          </a:p>
        </p:txBody>
      </p:sp>
    </p:spTree>
  </p:cSld>
  <p:clrMapOvr>
    <a:masterClrMapping/>
  </p:clrMapOvr>
</p:sld>
</file>

<file path=ppt/theme/theme1.xml><?xml version="1.0" encoding="utf-8"?>
<a:theme xmlns:a="http://schemas.openxmlformats.org/drawingml/2006/main" name="SupportPilot">
  <a:themeElements>
    <a:clrScheme name="SupportPilot">
      <a:dk1>
        <a:srgbClr val="15233B"/>
      </a:dk1>
      <a:lt1>
        <a:srgbClr val="FFFFFF"/>
      </a:lt1>
      <a:dk2>
        <a:srgbClr val="0B1A30"/>
      </a:dk2>
      <a:lt2>
        <a:srgbClr val="EEF3F8"/>
      </a:lt2>
      <a:accent1>
        <a:srgbClr val="F5A524"/>
      </a:accent1>
      <a:accent2>
        <a:srgbClr val="1FA79A"/>
      </a:accent2>
      <a:accent3>
        <a:srgbClr val="3B6FD4"/>
      </a:accent3>
      <a:accent4>
        <a:srgbClr val="D9534F"/>
      </a:accent4>
      <a:accent5>
        <a:srgbClr val="6B7A90"/>
      </a:accent5>
      <a:accent6>
        <a:srgbClr val="CFE0F1"/>
      </a:accent6>
      <a:hlink>
        <a:srgbClr val="3B6FD4"/>
      </a:hlink>
      <a:folHlink>
        <a:srgbClr val="6B7A90"/>
      </a:folHlink>
    </a:clrScheme>
    <a:fontScheme name="SupportPilo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SupportPilot AI – Pitch Deck</dc:title>
  <dc:subject>PptxGenJS Presentation</dc:subject>
  <dc:creator>PptxGenJS</dc:creator>
  <cp:lastModifiedBy>PptxGenJS</cp:lastModifiedBy>
  <cp:revision>1</cp:revision>
  <dcterms:created xsi:type="dcterms:W3CDTF">2026-10-13T08:01:10Z</dcterms:created>
  <dcterms:modified xsi:type="dcterms:W3CDTF">2026-10-13T08:01:10Z</dcterms:modified>
</cp:coreProperties>
</file>